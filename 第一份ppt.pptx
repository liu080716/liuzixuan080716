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1430000" cy="10655807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4" Type="http://schemas.openxmlformats.org/officeDocument/2006/relationships/viewProps" Target="viewProps.xml"/><Relationship Id="rId13" Type="http://schemas.openxmlformats.org/officeDocument/2006/relationships/tableStyles" Target="tableStyles.xml"/><Relationship Id="rId12" Type="http://schemas.openxmlformats.org/officeDocument/2006/relationships/presProps" Target="presProps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image" Target="../media/image15.png"/><Relationship Id="rId5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7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35.png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image" Target="../media/image42.png"/><Relationship Id="rId7" Type="http://schemas.openxmlformats.org/officeDocument/2006/relationships/image" Target="../media/image41.png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1" Type="http://schemas.openxmlformats.org/officeDocument/2006/relationships/image" Target="../media/image44.png"/><Relationship Id="rId10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107692"/>
            <a:ext cx="4286250" cy="6438899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4878939" y="4649835"/>
            <a:ext cx="4367529" cy="14173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4000"/>
              </a:lnSpc>
              <a:tabLst/>
            </a:pPr>
            <a:r>
              <a:rPr sz="3300" b="1" kern="0" spc="-5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3300" b="1" kern="0" spc="-26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kern="0" spc="-5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Weight of</a:t>
            </a:r>
            <a:r>
              <a:rPr sz="3300" b="1" kern="0" spc="-20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kern="0" spc="-5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Cho</a:t>
            </a:r>
            <a:r>
              <a:rPr sz="3300" b="1" kern="0" spc="-6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ices</a:t>
            </a:r>
            <a:endParaRPr sz="3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757"/>
              </a:lnSpc>
              <a:spcBef>
                <a:spcPts val="391"/>
              </a:spcBef>
              <a:tabLst/>
            </a:pP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Paragraph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3 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精读展⽰ 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大学英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语阅读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757"/>
              </a:lnSpc>
              <a:spcBef>
                <a:spcPts val="1"/>
              </a:spcBef>
              <a:tabLst/>
            </a:pP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展⽰人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: (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填自己名字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) ·</a:t>
            </a:r>
            <a:r>
              <a:rPr sz="1300" kern="0" spc="19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日期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: (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填展⽰日期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) ·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用时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: 6</a:t>
            </a:r>
            <a:r>
              <a:rPr sz="1300" kern="0" spc="-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分钟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picture 6">
            <a:hlinkClick r:id="rId4" action="ppaction://hlinkfil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30733" y="8083071"/>
            <a:ext cx="1653526" cy="3204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/>
          <p:nvPr/>
        </p:nvSpPr>
        <p:spPr>
          <a:xfrm>
            <a:off x="849007" y="3694086"/>
            <a:ext cx="9794875" cy="1625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129" algn="l" rtl="0" eaLnBrk="0">
              <a:lnSpc>
                <a:spcPts val="1757"/>
              </a:lnSpc>
              <a:tabLst/>
            </a:pP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Perhaps the most </a:t>
            </a:r>
            <a:r>
              <a:rPr sz="1300" b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daunting 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challenge for a freshman is the </a:t>
            </a:r>
            <a:r>
              <a:rPr sz="1300" b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sheer 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number of choices that lie ah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ead. Choosing a major,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4604" indent="1270" algn="l" rtl="0" eaLnBrk="0">
              <a:lnSpc>
                <a:spcPct val="131000"/>
              </a:lnSpc>
              <a:spcBef>
                <a:spcPts val="302"/>
              </a:spcBef>
              <a:tabLst/>
            </a:pP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deciding on minors,</a:t>
            </a:r>
            <a:r>
              <a:rPr sz="1300" kern="0" spc="-5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joining clubs, applying for internships, and even picking a career path</a:t>
            </a:r>
            <a:r>
              <a:rPr sz="1300" kern="0" spc="22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 all these decisions </a:t>
            </a:r>
            <a:r>
              <a:rPr sz="1300" b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press down</a:t>
            </a:r>
            <a:r>
              <a:rPr sz="1300" b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on 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an 18-year-old who,</a:t>
            </a:r>
            <a:r>
              <a:rPr sz="1300" kern="0" spc="-8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just a year ago, was mainly concerned with passing high school exams. Many students fall i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nto a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ts val="1757"/>
              </a:lnSpc>
              <a:spcBef>
                <a:spcPts val="379"/>
              </a:spcBef>
              <a:tabLst/>
            </a:pPr>
            <a:r>
              <a:rPr sz="1300" b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paralysis of analysis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, spending hours weighing p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ros and cons but never making a decision. Others rush into choices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indent="5714" algn="l" rtl="0" eaLnBrk="0">
              <a:lnSpc>
                <a:spcPct val="126000"/>
              </a:lnSpc>
              <a:spcBef>
                <a:spcPts val="383"/>
              </a:spcBef>
              <a:tabLst/>
            </a:pPr>
            <a:r>
              <a:rPr sz="1300" b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impulsively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, only to regret them later. The question</a:t>
            </a:r>
            <a:r>
              <a:rPr sz="1300" kern="0" spc="26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'What do</a:t>
            </a:r>
            <a:r>
              <a:rPr sz="1300" i="1" kern="0" spc="12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I want t</a:t>
            </a:r>
            <a:r>
              <a:rPr sz="1300" i="1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o do with my</a:t>
            </a:r>
            <a:r>
              <a:rPr sz="1300" i="1" kern="0" spc="1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life?</a:t>
            </a:r>
            <a:r>
              <a:rPr sz="1300" i="1" kern="0" spc="-2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'</a:t>
            </a:r>
            <a:r>
              <a:rPr sz="1300" i="1" kern="0" spc="-1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becomes a constant companion,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300" kern="0" spc="5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whispering in moments of quiet and screaming 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moments of panic.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10" name="rect 10"/>
          <p:cNvSpPr/>
          <p:nvPr/>
        </p:nvSpPr>
        <p:spPr>
          <a:xfrm>
            <a:off x="600075" y="7127366"/>
            <a:ext cx="962025" cy="276225"/>
          </a:xfrm>
          <a:prstGeom prst="rect">
            <a:avLst/>
          </a:prstGeom>
          <a:solidFill>
            <a:srgbClr val="EEDDD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" name="textbox 12"/>
          <p:cNvSpPr/>
          <p:nvPr/>
        </p:nvSpPr>
        <p:spPr>
          <a:xfrm>
            <a:off x="587375" y="6442468"/>
            <a:ext cx="4728209" cy="13963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0000"/>
              </a:lnSpc>
              <a:tabLst/>
            </a:pPr>
            <a:r>
              <a:rPr sz="1300" b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daunting · sheer · impulsively · paralysis of analysis · pr</a:t>
            </a:r>
            <a:r>
              <a:rPr sz="1300" b="1" kern="0" spc="-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ess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ts val="1882"/>
              </a:lnSpc>
              <a:tabLst/>
            </a:pPr>
            <a:r>
              <a:rPr sz="1300" b="1" kern="0" spc="-2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down on</a:t>
            </a: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9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64"/>
              </a:lnSpc>
              <a:spcBef>
                <a:spcPts val="307"/>
              </a:spcBef>
              <a:tabLst>
                <a:tab pos="15684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egoe UI Symbol"/>
                <a:ea typeface="Segoe UI Symbol"/>
                <a:cs typeface="Segoe UI Symbol"/>
              </a:rPr>
              <a:t>	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Segoe UI Symbol"/>
                <a:ea typeface="Segoe UI Symbol"/>
                <a:cs typeface="Segoe UI Symbol"/>
              </a:rPr>
              <a:t>❓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Segoe UI Symbol"/>
                <a:ea typeface="Segoe UI Symbol"/>
                <a:cs typeface="Segoe UI Symbol"/>
              </a:rPr>
              <a:t>  </a:t>
            </a:r>
            <a:r>
              <a:rPr sz="1000" kern="0" spc="-2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核心问句   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3655" algn="l" rtl="0" eaLnBrk="0">
              <a:lnSpc>
                <a:spcPts val="1757"/>
              </a:lnSpc>
              <a:spcBef>
                <a:spcPts val="1"/>
              </a:spcBef>
              <a:tabLst/>
            </a:pP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What do</a:t>
            </a:r>
            <a:r>
              <a:rPr sz="1300" i="1" kern="0" spc="12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I want to do wi</a:t>
            </a:r>
            <a:r>
              <a:rPr sz="1300" i="1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th my</a:t>
            </a:r>
            <a:r>
              <a:rPr sz="1300" i="1" kern="0" spc="1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life?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14" name="rect 14"/>
          <p:cNvSpPr/>
          <p:nvPr/>
        </p:nvSpPr>
        <p:spPr>
          <a:xfrm>
            <a:off x="5931407" y="6393179"/>
            <a:ext cx="4924115" cy="1112210"/>
          </a:xfrm>
          <a:prstGeom prst="rect">
            <a:avLst/>
          </a:prstGeom>
          <a:solidFill>
            <a:srgbClr val="EFDDD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607091" y="2725784"/>
            <a:ext cx="5525770" cy="447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4000"/>
              </a:lnSpc>
              <a:tabLst/>
            </a:pPr>
            <a:r>
              <a:rPr sz="3300" b="1" kern="0" spc="-4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Original Text — Paragraph </a:t>
            </a:r>
            <a:r>
              <a:rPr sz="3300" b="1" kern="0" spc="-5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3300" dirty="0">
              <a:latin typeface="Arial"/>
              <a:ea typeface="Arial"/>
              <a:cs typeface="Arial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6120858" y="6602221"/>
            <a:ext cx="1643379" cy="6648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7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6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分析瘫痪</a:t>
            </a:r>
            <a:endParaRPr sz="1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ts val="1757"/>
              </a:lnSpc>
              <a:tabLst/>
            </a:pP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Paralysis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Analysis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8553144" y="6602221"/>
            <a:ext cx="1450339" cy="6648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7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6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冲动抉择</a:t>
            </a:r>
            <a:endParaRPr sz="1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ts val="1757"/>
              </a:lnSpc>
              <a:tabLst/>
            </a:pP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Impulsive Choices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pic>
        <p:nvPicPr>
          <p:cNvPr id="22" name="picture 22">
            <a:hlinkClick r:id="rId3" action="ppaction://hlinkfil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630733" y="8083071"/>
            <a:ext cx="1653526" cy="320488"/>
          </a:xfrm>
          <a:prstGeom prst="rect">
            <a:avLst/>
          </a:prstGeom>
        </p:spPr>
      </p:pic>
      <p:sp>
        <p:nvSpPr>
          <p:cNvPr id="24" name="textbox 24"/>
          <p:cNvSpPr/>
          <p:nvPr/>
        </p:nvSpPr>
        <p:spPr>
          <a:xfrm>
            <a:off x="600075" y="5927216"/>
            <a:ext cx="962025" cy="266700"/>
          </a:xfrm>
          <a:prstGeom prst="rect">
            <a:avLst/>
          </a:prstGeom>
          <a:solidFill>
            <a:srgbClr val="EEDDD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12395" algn="l" rtl="0" eaLnBrk="0">
              <a:lnSpc>
                <a:spcPts val="1264"/>
              </a:lnSpc>
              <a:spcBef>
                <a:spcPts val="1"/>
              </a:spcBef>
              <a:tabLst/>
            </a:pP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粤 </a:t>
            </a:r>
            <a:r>
              <a:rPr sz="1000" kern="0" spc="8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划出生词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5934075" y="5927216"/>
            <a:ext cx="962025" cy="266700"/>
          </a:xfrm>
          <a:prstGeom prst="rect">
            <a:avLst/>
          </a:prstGeom>
          <a:solidFill>
            <a:srgbClr val="EEDDD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11125" algn="l" rtl="0" eaLnBrk="0">
              <a:lnSpc>
                <a:spcPts val="1264"/>
              </a:lnSpc>
              <a:spcBef>
                <a:spcPts val="1"/>
              </a:spcBef>
              <a:tabLst/>
            </a:pP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Segoe UI Symbol"/>
                <a:ea typeface="Segoe UI Symbol"/>
                <a:cs typeface="Segoe UI Symbol"/>
              </a:rPr>
              <a:t>⚖ </a:t>
            </a:r>
            <a:r>
              <a:rPr sz="1000" kern="0" spc="10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两种反应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00075" y="3507867"/>
            <a:ext cx="19050" cy="2038349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382000" y="6412991"/>
            <a:ext cx="19050" cy="10572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2"/>
          <p:cNvSpPr/>
          <p:nvPr/>
        </p:nvSpPr>
        <p:spPr>
          <a:xfrm>
            <a:off x="7522460" y="6287296"/>
            <a:ext cx="3155950" cy="2207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ts val="2952"/>
              </a:lnSpc>
              <a:tabLst/>
            </a:pPr>
            <a:r>
              <a:rPr sz="2000" b="1" kern="0" spc="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sheer /</a:t>
            </a:r>
            <a:r>
              <a:rPr sz="2000" b="1" kern="0" spc="0" dirty="0">
                <a:solidFill>
                  <a:srgbClr val="4B6981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ʃɪ</a:t>
            </a:r>
            <a:r>
              <a:rPr sz="2000" b="1" kern="0" spc="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r/</a:t>
            </a:r>
            <a:endParaRPr sz="2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0000"/>
              </a:lnSpc>
              <a:spcBef>
                <a:spcPts val="1406"/>
              </a:spcBef>
              <a:tabLst/>
            </a:pPr>
            <a:r>
              <a:rPr sz="1300" b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adj</a:t>
            </a:r>
            <a:r>
              <a:rPr sz="1300" b="1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. 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纯粹的；</a:t>
            </a:r>
            <a:r>
              <a:rPr sz="1300" kern="0" spc="-20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完全的（强调数量或程度）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5559" indent="-7620" algn="l" rtl="0" eaLnBrk="0">
              <a:lnSpc>
                <a:spcPct val="127000"/>
              </a:lnSpc>
              <a:spcBef>
                <a:spcPts val="396"/>
              </a:spcBef>
              <a:tabLst/>
            </a:pP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sheer number of options made it</a:t>
            </a:r>
            <a:r>
              <a:rPr sz="1300" i="1" kern="0" spc="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impossible to decide.</a:t>
            </a: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indent="-8254" algn="l" rtl="0" eaLnBrk="0">
              <a:lnSpc>
                <a:spcPct val="140000"/>
              </a:lnSpc>
              <a:tabLst/>
            </a:pPr>
            <a:r>
              <a:rPr sz="1300" kern="0" spc="12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搭配</a:t>
            </a:r>
            <a:r>
              <a:rPr sz="1300" b="1" kern="0" spc="12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sheer</a:t>
            </a:r>
            <a:r>
              <a:rPr sz="1300" kern="0" spc="12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volume</a:t>
            </a:r>
            <a:r>
              <a:rPr sz="1300" kern="0" spc="12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/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sheer</a:t>
            </a:r>
            <a:r>
              <a:rPr sz="1300" kern="0" spc="12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force</a:t>
            </a:r>
            <a:r>
              <a:rPr sz="1300" kern="0" spc="12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/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sheer </a:t>
            </a:r>
            <a:r>
              <a:rPr sz="1300" kern="0" spc="5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luck / sheer n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umber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7522460" y="3366913"/>
            <a:ext cx="3052445" cy="2105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83000"/>
              </a:lnSpc>
              <a:tabLst/>
            </a:pPr>
            <a:r>
              <a:rPr sz="2000" b="1" kern="0" spc="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daunting</a:t>
            </a:r>
            <a:r>
              <a:rPr sz="2000" b="1" kern="0" spc="1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 /</a:t>
            </a:r>
            <a:r>
              <a:rPr sz="2000" b="1" kern="0" spc="10" dirty="0">
                <a:solidFill>
                  <a:srgbClr val="4B6981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.</a:t>
            </a:r>
            <a:r>
              <a:rPr sz="2000" b="1" kern="0" spc="1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2000" b="1" kern="0" spc="10" dirty="0">
                <a:solidFill>
                  <a:srgbClr val="4B6981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ɔ:</a:t>
            </a:r>
            <a:r>
              <a:rPr sz="2000" b="1" kern="0" spc="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nt</a:t>
            </a:r>
            <a:r>
              <a:rPr sz="2000" b="1" kern="0" spc="10" dirty="0">
                <a:solidFill>
                  <a:srgbClr val="4B6981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ɪ</a:t>
            </a:r>
            <a:r>
              <a:rPr sz="2000" b="1" kern="0" spc="1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ŋ/</a:t>
            </a:r>
            <a:endParaRPr sz="2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0000"/>
              </a:lnSpc>
              <a:spcBef>
                <a:spcPts val="398"/>
              </a:spcBef>
              <a:tabLst/>
            </a:pPr>
            <a:r>
              <a:rPr sz="1300" b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adj</a:t>
            </a:r>
            <a:r>
              <a:rPr sz="1300" b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. 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令人畏惧的；使人气馁的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7940" algn="l" rtl="0" eaLnBrk="0">
              <a:lnSpc>
                <a:spcPct val="126000"/>
              </a:lnSpc>
              <a:spcBef>
                <a:spcPts val="400"/>
              </a:spcBef>
              <a:tabLst/>
            </a:pPr>
            <a:r>
              <a:rPr sz="1300" i="1" kern="0" spc="5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dauntin</a:t>
            </a: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g task of choosing a major</a:t>
            </a:r>
            <a:r>
              <a:rPr sz="1300" i="1" kern="0" spc="-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5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overwhelmed many freshmen.</a:t>
            </a: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4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indent="-8254" algn="l" rtl="0" eaLnBrk="0">
              <a:lnSpc>
                <a:spcPct val="131000"/>
              </a:lnSpc>
              <a:tabLst/>
            </a:pPr>
            <a:r>
              <a:rPr sz="1300" kern="0" spc="5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搭配</a:t>
            </a:r>
            <a:r>
              <a:rPr sz="1300" b="1" kern="0" spc="5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1300" kern="0" spc="5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daunting challenge / daunt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ing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300" kern="0" spc="6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prospect / d</a:t>
            </a:r>
            <a:r>
              <a:rPr sz="1300" kern="0" spc="5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aunting task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602805" y="2096801"/>
            <a:ext cx="8794115" cy="4565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1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3300" b="1" kern="0" spc="-8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Key</a:t>
            </a:r>
            <a:r>
              <a:rPr sz="3300" b="1" kern="0" spc="-37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kern="0" spc="-8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Vocabulary — The</a:t>
            </a:r>
            <a:r>
              <a:rPr sz="3300" b="1" kern="0" spc="-26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kern="0" spc="-8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Weight of</a:t>
            </a:r>
            <a:r>
              <a:rPr sz="3300" b="1" kern="0" spc="-20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kern="0" spc="-8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Choices </a:t>
            </a:r>
            <a:r>
              <a:rPr sz="3300" b="1" kern="0" spc="-9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(1/2)</a:t>
            </a:r>
            <a:endParaRPr sz="3300" dirty="0">
              <a:latin typeface="Arial"/>
              <a:ea typeface="Arial"/>
              <a:cs typeface="Arial"/>
            </a:endParaRPr>
          </a:p>
        </p:txBody>
      </p:sp>
      <p:pic>
        <p:nvPicPr>
          <p:cNvPr id="38" name="picture 38">
            <a:hlinkClick r:id="rId3" action="ppaction://hlinkfil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630733" y="8654571"/>
            <a:ext cx="1653526" cy="320488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7534275" y="5984366"/>
            <a:ext cx="590550" cy="266700"/>
          </a:xfrm>
          <a:prstGeom prst="rect">
            <a:avLst/>
          </a:prstGeom>
          <a:solidFill>
            <a:srgbClr val="EEDDD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05410" algn="l" rtl="0" eaLnBrk="0">
              <a:lnSpc>
                <a:spcPts val="1406"/>
              </a:lnSpc>
              <a:spcBef>
                <a:spcPts val="2"/>
              </a:spcBef>
              <a:tabLst/>
            </a:pPr>
            <a:r>
              <a:rPr sz="1000" kern="0" spc="1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词汇</a:t>
            </a:r>
            <a:r>
              <a:rPr sz="1000" kern="0" spc="1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7534275" y="2993517"/>
            <a:ext cx="561975" cy="266700"/>
          </a:xfrm>
          <a:prstGeom prst="rect">
            <a:avLst/>
          </a:prstGeom>
          <a:solidFill>
            <a:srgbClr val="EEDDDD">
              <a:alpha val="9647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05410" algn="l" rtl="0" eaLnBrk="0">
              <a:lnSpc>
                <a:spcPct val="90000"/>
              </a:lnSpc>
              <a:spcBef>
                <a:spcPts val="3"/>
              </a:spcBef>
              <a:tabLst/>
            </a:pPr>
            <a:r>
              <a:rPr sz="1000" kern="0" spc="2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词汇 </a:t>
            </a:r>
            <a:r>
              <a:rPr sz="1000" kern="0" spc="2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695700" y="5574791"/>
            <a:ext cx="304800" cy="295275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534275" y="5736716"/>
            <a:ext cx="3305175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8"/>
          <p:cNvSpPr/>
          <p:nvPr/>
        </p:nvSpPr>
        <p:spPr>
          <a:xfrm>
            <a:off x="588575" y="6084966"/>
            <a:ext cx="3275329" cy="2657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3000"/>
              </a:lnSpc>
              <a:tabLst/>
            </a:pPr>
            <a:r>
              <a:rPr sz="2000" b="1" kern="0" spc="-3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paralysis of</a:t>
            </a:r>
            <a:r>
              <a:rPr sz="2000" b="1" kern="0" spc="-13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3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analysis</a:t>
            </a:r>
            <a:endParaRPr sz="2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2225" algn="l" rtl="0" eaLnBrk="0">
              <a:lnSpc>
                <a:spcPct val="87000"/>
              </a:lnSpc>
              <a:spcBef>
                <a:spcPts val="398"/>
              </a:spcBef>
              <a:tabLst/>
            </a:pPr>
            <a:r>
              <a:rPr sz="1300" b="1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n. 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分析瘫痪</a:t>
            </a:r>
            <a:r>
              <a:rPr sz="1300" kern="0" spc="-1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</a:t>
            </a:r>
            <a:r>
              <a:rPr sz="1300" kern="0" spc="-1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因过度思</a:t>
            </a:r>
            <a:r>
              <a:rPr sz="1300" kern="0" spc="2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考而无法做出决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marL="17145" algn="l" rtl="0" eaLnBrk="0">
              <a:lnSpc>
                <a:spcPts val="2175"/>
              </a:lnSpc>
              <a:tabLst/>
            </a:pPr>
            <a:r>
              <a:rPr sz="1300" kern="0" spc="-1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定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4450" algn="l" rtl="0" eaLnBrk="0">
              <a:lnSpc>
                <a:spcPts val="1757"/>
              </a:lnSpc>
              <a:spcBef>
                <a:spcPts val="399"/>
              </a:spcBef>
              <a:tabLst/>
            </a:pPr>
            <a:r>
              <a:rPr sz="1300" i="1" kern="0" spc="5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He suffered fro</a:t>
            </a: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m paralysis of analysis,</a:t>
            </a:r>
            <a:endParaRPr sz="1300" dirty="0">
              <a:latin typeface="Arial"/>
              <a:ea typeface="Arial"/>
              <a:cs typeface="Arial"/>
            </a:endParaRPr>
          </a:p>
          <a:p>
            <a:pPr marL="31115" indent="3175" algn="l" rtl="0" eaLnBrk="0">
              <a:lnSpc>
                <a:spcPct val="140000"/>
              </a:lnSpc>
              <a:spcBef>
                <a:spcPts val="279"/>
              </a:spcBef>
              <a:tabLst/>
            </a:pPr>
            <a:r>
              <a:rPr sz="1300" i="1" kern="0" spc="5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unable to pick a sing</a:t>
            </a: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le major after weeks</a:t>
            </a:r>
            <a:r>
              <a:rPr sz="1300" i="1" kern="0" spc="-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research.</a:t>
            </a: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indent="-6985" algn="l" rtl="0" eaLnBrk="0">
              <a:lnSpc>
                <a:spcPct val="131000"/>
              </a:lnSpc>
              <a:spcBef>
                <a:spcPts val="5"/>
              </a:spcBef>
              <a:tabLst/>
            </a:pPr>
            <a:r>
              <a:rPr sz="1300" kern="0" spc="5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用法</a:t>
            </a:r>
            <a:r>
              <a:rPr sz="1300" b="1" kern="0" spc="5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1300" kern="0" spc="5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fall into / suffer from paralysis of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analysis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592518" y="3094117"/>
            <a:ext cx="3304540" cy="2105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3000"/>
              </a:lnSpc>
              <a:tabLst/>
            </a:pPr>
            <a:r>
              <a:rPr sz="2000" b="1" kern="0" spc="-2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impulsively /</a:t>
            </a:r>
            <a:r>
              <a:rPr sz="2000" b="1" kern="0" spc="-20" dirty="0">
                <a:solidFill>
                  <a:srgbClr val="4B6981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ɪ</a:t>
            </a:r>
            <a:r>
              <a:rPr sz="2000" b="1" kern="0" spc="-2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2000" b="1" kern="0" spc="-20" dirty="0">
                <a:solidFill>
                  <a:srgbClr val="4B6981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.</a:t>
            </a:r>
            <a:r>
              <a:rPr sz="2000" b="1" kern="0" spc="-2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2000" b="1" kern="0" spc="-20" dirty="0">
                <a:solidFill>
                  <a:srgbClr val="4B6981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Λ</a:t>
            </a:r>
            <a:r>
              <a:rPr sz="2000" b="1" kern="0" spc="-2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ls</a:t>
            </a:r>
            <a:r>
              <a:rPr sz="2000" b="1" kern="0" spc="-20" dirty="0">
                <a:solidFill>
                  <a:srgbClr val="4B6981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ɪ</a:t>
            </a:r>
            <a:r>
              <a:rPr sz="2000" b="1" kern="0" spc="-2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v</a:t>
            </a:r>
            <a:r>
              <a:rPr sz="2000" b="1" kern="0" spc="-3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li/</a:t>
            </a:r>
            <a:endParaRPr sz="2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0000"/>
              </a:lnSpc>
              <a:spcBef>
                <a:spcPts val="395"/>
              </a:spcBef>
              <a:tabLst/>
            </a:pPr>
            <a:r>
              <a:rPr sz="1300" b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adv</a:t>
            </a:r>
            <a:r>
              <a:rPr sz="1300" b="1" kern="0" spc="2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. </a:t>
            </a:r>
            <a:r>
              <a:rPr sz="1300" kern="0" spc="2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冲动地；</a:t>
            </a:r>
            <a:r>
              <a:rPr sz="1300" kern="0" spc="-28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2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一时兴起</a:t>
            </a:r>
            <a:r>
              <a:rPr sz="1300" kern="0" spc="1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地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7305" indent="5714" algn="l" rtl="0" eaLnBrk="0">
              <a:lnSpc>
                <a:spcPct val="131000"/>
              </a:lnSpc>
              <a:spcBef>
                <a:spcPts val="396"/>
              </a:spcBef>
              <a:tabLst/>
            </a:pPr>
            <a:r>
              <a:rPr sz="1300" i="1" kern="0" spc="5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 impulsively signed up for </a:t>
            </a: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three clubs</a:t>
            </a:r>
            <a:r>
              <a:rPr sz="1300" i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on the first day.</a:t>
            </a: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4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indent="-7620" algn="l" rtl="0" eaLnBrk="0">
              <a:lnSpc>
                <a:spcPct val="131000"/>
              </a:lnSpc>
              <a:tabLst/>
            </a:pP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词根</a:t>
            </a:r>
            <a:r>
              <a:rPr sz="1300" b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impulse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(n.) 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impulsive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(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adj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.) 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impulsively (</a:t>
            </a:r>
            <a:r>
              <a:rPr sz="1300" kern="0" spc="2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adv.)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02805" y="1824005"/>
            <a:ext cx="8848725" cy="4565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1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3300" b="1" kern="0" spc="-7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Key</a:t>
            </a:r>
            <a:r>
              <a:rPr sz="3300" b="1" kern="0" spc="-37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kern="0" spc="-7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Vocabulary — The</a:t>
            </a:r>
            <a:r>
              <a:rPr sz="3300" b="1" kern="0" spc="-26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kern="0" spc="-7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Weight of</a:t>
            </a:r>
            <a:r>
              <a:rPr sz="3300" b="1" kern="0" spc="-20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kern="0" spc="-7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Choices (2</a:t>
            </a:r>
            <a:r>
              <a:rPr sz="3300" b="1" kern="0" spc="-8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/2)</a:t>
            </a:r>
            <a:endParaRPr sz="3300" dirty="0">
              <a:latin typeface="Arial"/>
              <a:ea typeface="Arial"/>
              <a:cs typeface="Arial"/>
            </a:endParaRPr>
          </a:p>
        </p:txBody>
      </p:sp>
      <p:pic>
        <p:nvPicPr>
          <p:cNvPr id="54" name="picture 54">
            <a:hlinkClick r:id="rId3" action="ppaction://hlinkfil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630733" y="8927367"/>
            <a:ext cx="1653526" cy="320488"/>
          </a:xfrm>
          <a:prstGeom prst="rect">
            <a:avLst/>
          </a:prstGeom>
        </p:spPr>
      </p:pic>
      <p:sp>
        <p:nvSpPr>
          <p:cNvPr id="56" name="textbox 56"/>
          <p:cNvSpPr/>
          <p:nvPr/>
        </p:nvSpPr>
        <p:spPr>
          <a:xfrm>
            <a:off x="600075" y="2720721"/>
            <a:ext cx="600075" cy="257175"/>
          </a:xfrm>
          <a:prstGeom prst="rect">
            <a:avLst/>
          </a:prstGeom>
          <a:solidFill>
            <a:srgbClr val="EEDDDD">
              <a:alpha val="94509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9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8585" algn="l" rtl="0" eaLnBrk="0">
              <a:lnSpc>
                <a:spcPts val="1406"/>
              </a:lnSpc>
              <a:tabLst/>
            </a:pPr>
            <a:r>
              <a:rPr sz="1000" kern="0" spc="16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词汇</a:t>
            </a:r>
            <a:r>
              <a:rPr sz="1000" kern="0" spc="16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600075" y="5711571"/>
            <a:ext cx="600075" cy="257175"/>
          </a:xfrm>
          <a:prstGeom prst="rect">
            <a:avLst/>
          </a:prstGeom>
          <a:solidFill>
            <a:srgbClr val="EEDDD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08585" algn="l" rtl="0" eaLnBrk="0">
              <a:lnSpc>
                <a:spcPct val="90000"/>
              </a:lnSpc>
              <a:spcBef>
                <a:spcPts val="3"/>
              </a:spcBef>
              <a:tabLst/>
            </a:pPr>
            <a:r>
              <a:rPr sz="1000" kern="0" spc="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词汇 </a:t>
            </a:r>
            <a:r>
              <a:rPr sz="1000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439025" y="5578221"/>
            <a:ext cx="304800" cy="28575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00075" y="5454396"/>
            <a:ext cx="3305175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333875" y="3883532"/>
            <a:ext cx="6505575" cy="3686175"/>
          </a:xfrm>
          <a:prstGeom prst="rect">
            <a:avLst/>
          </a:prstGeom>
        </p:spPr>
      </p:pic>
      <p:sp>
        <p:nvSpPr>
          <p:cNvPr id="66" name="rect 66"/>
          <p:cNvSpPr/>
          <p:nvPr/>
        </p:nvSpPr>
        <p:spPr>
          <a:xfrm>
            <a:off x="600075" y="2588132"/>
            <a:ext cx="600075" cy="257175"/>
          </a:xfrm>
          <a:prstGeom prst="rect">
            <a:avLst/>
          </a:prstGeom>
          <a:solidFill>
            <a:srgbClr val="EEDDD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8" name="textbox 68"/>
          <p:cNvSpPr/>
          <p:nvPr/>
        </p:nvSpPr>
        <p:spPr>
          <a:xfrm>
            <a:off x="587375" y="2626181"/>
            <a:ext cx="3326765" cy="2159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>
                <a:tab pos="121285" algn="l"/>
              </a:tabLst>
            </a:pPr>
            <a:r>
              <a:rPr sz="1000" kern="0" spc="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5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词汇 </a:t>
            </a:r>
            <a:r>
              <a:rPr sz="1000" kern="0" spc="5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1000" kern="0" spc="-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endParaRPr sz="10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82000"/>
              </a:lnSpc>
              <a:spcBef>
                <a:spcPts val="1567"/>
              </a:spcBef>
              <a:tabLst/>
            </a:pPr>
            <a:r>
              <a:rPr sz="2000" b="1" kern="0" spc="-5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press down </a:t>
            </a:r>
            <a:r>
              <a:rPr sz="2000" b="1" kern="0" spc="-6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endParaRPr sz="2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ct val="90000"/>
              </a:lnSpc>
              <a:spcBef>
                <a:spcPts val="393"/>
              </a:spcBef>
              <a:tabLst/>
            </a:pPr>
            <a:r>
              <a:rPr sz="1300" b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phr</a:t>
            </a:r>
            <a:r>
              <a:rPr sz="1300" b="1" kern="0" spc="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. v. </a:t>
            </a:r>
            <a:r>
              <a:rPr sz="1300" kern="0" spc="1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压迫；使感到沉重压力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2384" algn="l" rtl="0" eaLnBrk="0">
              <a:lnSpc>
                <a:spcPct val="131000"/>
              </a:lnSpc>
              <a:spcBef>
                <a:spcPts val="400"/>
              </a:spcBef>
              <a:tabLst/>
            </a:pPr>
            <a:r>
              <a:rPr sz="1300" i="1" kern="0" spc="5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weight of expectations </a:t>
            </a: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pressed down</a:t>
            </a:r>
            <a:r>
              <a:rPr sz="1300" i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5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on her throughout the semester.</a:t>
            </a: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757"/>
              </a:lnSpc>
              <a:tabLst/>
            </a:pPr>
            <a:r>
              <a:rPr sz="1300" kern="0" spc="12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近义</a:t>
            </a:r>
            <a:r>
              <a:rPr sz="1300" b="1" kern="0" spc="12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weigh</a:t>
            </a:r>
            <a:r>
              <a:rPr sz="1300" kern="0" spc="12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1300" kern="0" spc="12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/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burden</a:t>
            </a:r>
            <a:r>
              <a:rPr sz="1300" kern="0" spc="12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/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overwhelm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593890" y="5765203"/>
            <a:ext cx="3322320" cy="1930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indent="-3810" algn="l" rtl="0" eaLnBrk="0">
              <a:lnSpc>
                <a:spcPct val="130000"/>
              </a:lnSpc>
              <a:tabLst/>
            </a:pPr>
            <a:r>
              <a:rPr sz="1300" kern="0" spc="1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 </a:t>
            </a:r>
            <a:r>
              <a:rPr sz="1300" b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impulse</a:t>
            </a:r>
            <a:r>
              <a:rPr sz="1300" b="1" kern="0" spc="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(n.) </a:t>
            </a:r>
            <a:r>
              <a:rPr sz="1300" kern="0" spc="1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 </a:t>
            </a:r>
            <a:r>
              <a:rPr sz="1300" b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impulsive</a:t>
            </a:r>
            <a:r>
              <a:rPr sz="1300" b="1" kern="0" spc="5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(adj.)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          </a:t>
            </a:r>
            <a:r>
              <a:rPr sz="1300" b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impulsively</a:t>
            </a:r>
            <a:r>
              <a:rPr sz="1300" b="1" kern="0" spc="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adv</a:t>
            </a:r>
            <a:r>
              <a:rPr sz="1300" kern="0" spc="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.)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757"/>
              </a:lnSpc>
              <a:spcBef>
                <a:spcPts val="1579"/>
              </a:spcBef>
              <a:tabLst/>
            </a:pPr>
            <a:r>
              <a:rPr sz="1300" kern="0" spc="1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 </a:t>
            </a:r>
            <a:r>
              <a:rPr sz="1300" b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daunt</a:t>
            </a:r>
            <a:r>
              <a:rPr sz="1300" b="1" kern="0" spc="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(v.) </a:t>
            </a:r>
            <a:r>
              <a:rPr sz="1300" kern="0" spc="1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 </a:t>
            </a:r>
            <a:r>
              <a:rPr sz="1300" b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daunting</a:t>
            </a:r>
            <a:r>
              <a:rPr sz="1300" b="1" kern="0" spc="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adj</a:t>
            </a:r>
            <a:r>
              <a:rPr sz="1300" kern="0" spc="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)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marL="15240" algn="l" rtl="0" eaLnBrk="0">
              <a:lnSpc>
                <a:spcPts val="2175"/>
              </a:lnSpc>
              <a:tabLst/>
            </a:pPr>
            <a:r>
              <a:rPr sz="1300" b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undaunted</a:t>
            </a:r>
            <a:r>
              <a:rPr sz="1300" b="1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adj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. 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不气馁的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26000"/>
              </a:lnSpc>
              <a:spcBef>
                <a:spcPts val="7"/>
              </a:spcBef>
              <a:tabLst/>
            </a:pP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 </a:t>
            </a:r>
            <a:r>
              <a:rPr sz="1300" b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analyze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(v.)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 </a:t>
            </a:r>
            <a:r>
              <a:rPr sz="1300" b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analysis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(n.)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→ </a:t>
            </a:r>
            <a:r>
              <a:rPr sz="1300" b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paralysis</a:t>
            </a:r>
            <a:r>
              <a:rPr sz="1300" b="1" kern="0" spc="6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300" b="1" kern="0" spc="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analysis</a:t>
            </a:r>
            <a:r>
              <a:rPr sz="1300" b="1" kern="0" spc="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1300" kern="0" spc="1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短语</a:t>
            </a:r>
            <a:r>
              <a:rPr sz="1300" kern="0" spc="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600075" y="7912608"/>
            <a:ext cx="3305175" cy="942975"/>
          </a:xfrm>
          <a:prstGeom prst="rect">
            <a:avLst/>
          </a:prstGeom>
          <a:solidFill>
            <a:srgbClr val="EEDDD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62609" indent="-209550" algn="l" rtl="0" eaLnBrk="0">
              <a:lnSpc>
                <a:spcPct val="138000"/>
              </a:lnSpc>
              <a:spcBef>
                <a:spcPts val="2"/>
              </a:spcBef>
              <a:tabLst>
                <a:tab pos="561975" algn="l"/>
              </a:tabLst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记忆技巧</a:t>
            </a:r>
            <a:r>
              <a:rPr sz="13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词根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+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后缀法</a:t>
            </a:r>
            <a:r>
              <a:rPr sz="1300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3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串联整 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个词族</a:t>
            </a:r>
            <a:r>
              <a:rPr sz="13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，举一反三。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4" name="picture 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03671" y="8180498"/>
            <a:ext cx="150018" cy="150018"/>
          </a:xfrm>
          <a:prstGeom prst="rect">
            <a:avLst/>
          </a:prstGeom>
        </p:spPr>
      </p:pic>
      <p:sp>
        <p:nvSpPr>
          <p:cNvPr id="76" name="textbox 76"/>
          <p:cNvSpPr/>
          <p:nvPr/>
        </p:nvSpPr>
        <p:spPr>
          <a:xfrm>
            <a:off x="602805" y="1701276"/>
            <a:ext cx="7213600" cy="447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4000"/>
              </a:lnSpc>
              <a:tabLst/>
            </a:pPr>
            <a:r>
              <a:rPr sz="3300" b="1" kern="0" spc="-6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Key</a:t>
            </a:r>
            <a:r>
              <a:rPr sz="3300" b="1" kern="0" spc="-37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kern="0" spc="-6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Vocabulary — </a:t>
            </a:r>
            <a:r>
              <a:rPr sz="3300" b="1" kern="0" spc="-7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Traps &amp; Pressures</a:t>
            </a:r>
            <a:endParaRPr sz="3300" dirty="0">
              <a:latin typeface="Arial"/>
              <a:ea typeface="Arial"/>
              <a:cs typeface="Arial"/>
            </a:endParaRPr>
          </a:p>
        </p:txBody>
      </p:sp>
      <p:pic>
        <p:nvPicPr>
          <p:cNvPr id="78" name="picture 78">
            <a:hlinkClick r:id="rId5" action="ppaction://hlinkfil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630733" y="9059955"/>
            <a:ext cx="1653526" cy="320488"/>
          </a:xfrm>
          <a:prstGeom prst="rect">
            <a:avLst/>
          </a:prstGeom>
        </p:spPr>
      </p:pic>
      <p:graphicFrame>
        <p:nvGraphicFramePr>
          <p:cNvPr id="80" name="table 80"/>
          <p:cNvGraphicFramePr>
            <a:graphicFrameLocks noGrp="1"/>
          </p:cNvGraphicFramePr>
          <p:nvPr/>
        </p:nvGraphicFramePr>
        <p:xfrm>
          <a:off x="600075" y="5302758"/>
          <a:ext cx="962025" cy="276225"/>
        </p:xfrm>
        <a:graphic>
          <a:graphicData uri="http://schemas.openxmlformats.org/drawingml/2006/table">
            <a:tbl>
              <a:tblPr/>
              <a:tblGrid>
                <a:gridCol w="962025"/>
              </a:tblGrid>
              <a:tr h="263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2395" algn="l" rtl="0" eaLnBrk="0">
                        <a:lnSpc>
                          <a:spcPts val="1281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φ </a:t>
                      </a:r>
                      <a:r>
                        <a:rPr sz="1000" kern="0" spc="150" dirty="0">
                          <a:solidFill>
                            <a:srgbClr val="E1C2C2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词汇拓展</a:t>
                      </a:r>
                      <a:r>
                        <a:rPr sz="1000" kern="0" spc="-10" dirty="0">
                          <a:solidFill>
                            <a:srgbClr val="E1C2C2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1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2" name="path 82"/>
          <p:cNvSpPr/>
          <p:nvPr/>
        </p:nvSpPr>
        <p:spPr>
          <a:xfrm>
            <a:off x="1538080" y="5542762"/>
            <a:ext cx="18898" cy="23554"/>
          </a:xfrm>
          <a:custGeom>
            <a:avLst/>
            <a:gdLst/>
            <a:ahLst/>
            <a:cxnLst/>
            <a:rect l="0" t="0" r="0" b="0"/>
            <a:pathLst>
              <a:path w="29" h="37">
                <a:moveTo>
                  <a:pt x="22" y="7"/>
                </a:moveTo>
                <a:cubicBezTo>
                  <a:pt x="18" y="15"/>
                  <a:pt x="13" y="23"/>
                  <a:pt x="7" y="29"/>
                </a:cubicBezTo>
              </a:path>
            </a:pathLst>
          </a:custGeom>
          <a:noFill/>
          <a:ln w="9525" cap="flat">
            <a:solidFill>
              <a:srgbClr val="E1C2C2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4" name="picture 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00075" y="5055108"/>
            <a:ext cx="3305175" cy="19050"/>
          </a:xfrm>
          <a:prstGeom prst="rect">
            <a:avLst/>
          </a:prstGeom>
        </p:spPr>
      </p:pic>
      <p:sp>
        <p:nvSpPr>
          <p:cNvPr id="86" name="path 86"/>
          <p:cNvSpPr/>
          <p:nvPr/>
        </p:nvSpPr>
        <p:spPr>
          <a:xfrm>
            <a:off x="1525879" y="5556792"/>
            <a:ext cx="23554" cy="18898"/>
          </a:xfrm>
          <a:custGeom>
            <a:avLst/>
            <a:gdLst/>
            <a:ahLst/>
            <a:cxnLst/>
            <a:rect l="0" t="0" r="0" b="0"/>
            <a:pathLst>
              <a:path w="37" h="29">
                <a:moveTo>
                  <a:pt x="29" y="7"/>
                </a:moveTo>
                <a:cubicBezTo>
                  <a:pt x="23" y="13"/>
                  <a:pt x="15" y="18"/>
                  <a:pt x="7" y="22"/>
                </a:cubicBezTo>
              </a:path>
            </a:pathLst>
          </a:custGeom>
          <a:noFill/>
          <a:ln w="9525" cap="flat">
            <a:solidFill>
              <a:srgbClr val="E1C2C2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 88"/>
          <p:cNvSpPr/>
          <p:nvPr/>
        </p:nvSpPr>
        <p:spPr>
          <a:xfrm>
            <a:off x="609600" y="6184391"/>
            <a:ext cx="397073" cy="397073"/>
          </a:xfrm>
          <a:prstGeom prst="rect">
            <a:avLst/>
          </a:prstGeom>
          <a:solidFill>
            <a:srgbClr val="E5DFF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0" name="path 90"/>
          <p:cNvSpPr/>
          <p:nvPr/>
        </p:nvSpPr>
        <p:spPr>
          <a:xfrm>
            <a:off x="600075" y="6174866"/>
            <a:ext cx="390525" cy="390525"/>
          </a:xfrm>
          <a:custGeom>
            <a:avLst/>
            <a:gdLst/>
            <a:ahLst/>
            <a:cxnLst/>
            <a:rect l="0" t="0" r="0" b="0"/>
            <a:pathLst>
              <a:path w="615" h="615">
                <a:moveTo>
                  <a:pt x="15" y="520"/>
                </a:moveTo>
                <a:lnTo>
                  <a:pt x="15" y="94"/>
                </a:lnTo>
                <a:cubicBezTo>
                  <a:pt x="15" y="89"/>
                  <a:pt x="15" y="84"/>
                  <a:pt x="16" y="78"/>
                </a:cubicBezTo>
                <a:cubicBezTo>
                  <a:pt x="17" y="73"/>
                  <a:pt x="19" y="68"/>
                  <a:pt x="21" y="64"/>
                </a:cubicBezTo>
                <a:cubicBezTo>
                  <a:pt x="23" y="59"/>
                  <a:pt x="25" y="54"/>
                  <a:pt x="28" y="50"/>
                </a:cubicBezTo>
                <a:cubicBezTo>
                  <a:pt x="31" y="45"/>
                  <a:pt x="34" y="41"/>
                  <a:pt x="38" y="38"/>
                </a:cubicBezTo>
                <a:cubicBezTo>
                  <a:pt x="41" y="34"/>
                  <a:pt x="45" y="31"/>
                  <a:pt x="50" y="28"/>
                </a:cubicBezTo>
                <a:cubicBezTo>
                  <a:pt x="54" y="25"/>
                  <a:pt x="59" y="23"/>
                  <a:pt x="64" y="21"/>
                </a:cubicBezTo>
                <a:cubicBezTo>
                  <a:pt x="68" y="19"/>
                  <a:pt x="73" y="17"/>
                  <a:pt x="78" y="16"/>
                </a:cubicBezTo>
                <a:cubicBezTo>
                  <a:pt x="84" y="15"/>
                  <a:pt x="89" y="15"/>
                  <a:pt x="94" y="15"/>
                </a:cubicBezTo>
                <a:lnTo>
                  <a:pt x="520" y="15"/>
                </a:lnTo>
                <a:cubicBezTo>
                  <a:pt x="525" y="15"/>
                  <a:pt x="530" y="15"/>
                  <a:pt x="536" y="16"/>
                </a:cubicBezTo>
                <a:cubicBezTo>
                  <a:pt x="541" y="17"/>
                  <a:pt x="546" y="19"/>
                  <a:pt x="550" y="21"/>
                </a:cubicBezTo>
                <a:cubicBezTo>
                  <a:pt x="555" y="23"/>
                  <a:pt x="560" y="25"/>
                  <a:pt x="564" y="28"/>
                </a:cubicBezTo>
                <a:cubicBezTo>
                  <a:pt x="569" y="31"/>
                  <a:pt x="573" y="34"/>
                  <a:pt x="576" y="38"/>
                </a:cubicBezTo>
                <a:cubicBezTo>
                  <a:pt x="580" y="41"/>
                  <a:pt x="583" y="45"/>
                  <a:pt x="586" y="50"/>
                </a:cubicBezTo>
                <a:cubicBezTo>
                  <a:pt x="589" y="54"/>
                  <a:pt x="591" y="59"/>
                  <a:pt x="593" y="64"/>
                </a:cubicBezTo>
                <a:cubicBezTo>
                  <a:pt x="595" y="68"/>
                  <a:pt x="597" y="73"/>
                  <a:pt x="598" y="78"/>
                </a:cubicBezTo>
                <a:cubicBezTo>
                  <a:pt x="599" y="84"/>
                  <a:pt x="599" y="89"/>
                  <a:pt x="600" y="94"/>
                </a:cubicBezTo>
                <a:lnTo>
                  <a:pt x="600" y="520"/>
                </a:lnTo>
                <a:cubicBezTo>
                  <a:pt x="599" y="525"/>
                  <a:pt x="599" y="530"/>
                  <a:pt x="598" y="536"/>
                </a:cubicBezTo>
                <a:cubicBezTo>
                  <a:pt x="597" y="541"/>
                  <a:pt x="595" y="546"/>
                  <a:pt x="593" y="550"/>
                </a:cubicBezTo>
                <a:cubicBezTo>
                  <a:pt x="591" y="555"/>
                  <a:pt x="589" y="560"/>
                  <a:pt x="586" y="564"/>
                </a:cubicBezTo>
                <a:cubicBezTo>
                  <a:pt x="583" y="569"/>
                  <a:pt x="580" y="573"/>
                  <a:pt x="576" y="576"/>
                </a:cubicBezTo>
                <a:cubicBezTo>
                  <a:pt x="573" y="580"/>
                  <a:pt x="569" y="583"/>
                  <a:pt x="564" y="586"/>
                </a:cubicBezTo>
                <a:cubicBezTo>
                  <a:pt x="560" y="589"/>
                  <a:pt x="555" y="591"/>
                  <a:pt x="550" y="593"/>
                </a:cubicBezTo>
                <a:cubicBezTo>
                  <a:pt x="546" y="595"/>
                  <a:pt x="541" y="597"/>
                  <a:pt x="536" y="598"/>
                </a:cubicBezTo>
                <a:cubicBezTo>
                  <a:pt x="530" y="599"/>
                  <a:pt x="525" y="600"/>
                  <a:pt x="520" y="600"/>
                </a:cubicBezTo>
                <a:lnTo>
                  <a:pt x="94" y="600"/>
                </a:lnTo>
                <a:cubicBezTo>
                  <a:pt x="89" y="600"/>
                  <a:pt x="84" y="599"/>
                  <a:pt x="78" y="598"/>
                </a:cubicBezTo>
                <a:cubicBezTo>
                  <a:pt x="73" y="597"/>
                  <a:pt x="68" y="595"/>
                  <a:pt x="64" y="593"/>
                </a:cubicBezTo>
                <a:cubicBezTo>
                  <a:pt x="59" y="591"/>
                  <a:pt x="54" y="589"/>
                  <a:pt x="50" y="586"/>
                </a:cubicBezTo>
                <a:cubicBezTo>
                  <a:pt x="45" y="583"/>
                  <a:pt x="41" y="580"/>
                  <a:pt x="38" y="576"/>
                </a:cubicBezTo>
                <a:cubicBezTo>
                  <a:pt x="34" y="573"/>
                  <a:pt x="31" y="569"/>
                  <a:pt x="28" y="564"/>
                </a:cubicBezTo>
                <a:cubicBezTo>
                  <a:pt x="25" y="560"/>
                  <a:pt x="23" y="555"/>
                  <a:pt x="21" y="550"/>
                </a:cubicBezTo>
                <a:cubicBezTo>
                  <a:pt x="19" y="546"/>
                  <a:pt x="17" y="541"/>
                  <a:pt x="16" y="536"/>
                </a:cubicBezTo>
                <a:cubicBezTo>
                  <a:pt x="15" y="530"/>
                  <a:pt x="15" y="525"/>
                  <a:pt x="15" y="520"/>
                </a:cubicBezTo>
              </a:path>
            </a:pathLst>
          </a:custGeom>
          <a:noFill/>
          <a:ln w="19050" cap="flat">
            <a:solidFill>
              <a:srgbClr val="B2AAD2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2" name="rect 92"/>
          <p:cNvSpPr/>
          <p:nvPr/>
        </p:nvSpPr>
        <p:spPr>
          <a:xfrm>
            <a:off x="609600" y="7298816"/>
            <a:ext cx="397073" cy="397073"/>
          </a:xfrm>
          <a:prstGeom prst="rect">
            <a:avLst/>
          </a:prstGeom>
          <a:solidFill>
            <a:srgbClr val="DAEAE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4" name="path 94"/>
          <p:cNvSpPr/>
          <p:nvPr/>
        </p:nvSpPr>
        <p:spPr>
          <a:xfrm>
            <a:off x="600075" y="7289291"/>
            <a:ext cx="390525" cy="390525"/>
          </a:xfrm>
          <a:custGeom>
            <a:avLst/>
            <a:gdLst/>
            <a:ahLst/>
            <a:cxnLst/>
            <a:rect l="0" t="0" r="0" b="0"/>
            <a:pathLst>
              <a:path w="615" h="615">
                <a:moveTo>
                  <a:pt x="15" y="520"/>
                </a:moveTo>
                <a:lnTo>
                  <a:pt x="15" y="94"/>
                </a:lnTo>
                <a:cubicBezTo>
                  <a:pt x="15" y="89"/>
                  <a:pt x="15" y="84"/>
                  <a:pt x="16" y="78"/>
                </a:cubicBezTo>
                <a:cubicBezTo>
                  <a:pt x="17" y="73"/>
                  <a:pt x="19" y="68"/>
                  <a:pt x="21" y="64"/>
                </a:cubicBezTo>
                <a:cubicBezTo>
                  <a:pt x="23" y="59"/>
                  <a:pt x="25" y="54"/>
                  <a:pt x="28" y="50"/>
                </a:cubicBezTo>
                <a:cubicBezTo>
                  <a:pt x="31" y="45"/>
                  <a:pt x="34" y="41"/>
                  <a:pt x="38" y="38"/>
                </a:cubicBezTo>
                <a:cubicBezTo>
                  <a:pt x="41" y="34"/>
                  <a:pt x="45" y="31"/>
                  <a:pt x="50" y="28"/>
                </a:cubicBezTo>
                <a:cubicBezTo>
                  <a:pt x="54" y="25"/>
                  <a:pt x="59" y="23"/>
                  <a:pt x="64" y="21"/>
                </a:cubicBezTo>
                <a:cubicBezTo>
                  <a:pt x="68" y="19"/>
                  <a:pt x="73" y="17"/>
                  <a:pt x="78" y="16"/>
                </a:cubicBezTo>
                <a:cubicBezTo>
                  <a:pt x="84" y="15"/>
                  <a:pt x="89" y="15"/>
                  <a:pt x="94" y="15"/>
                </a:cubicBezTo>
                <a:lnTo>
                  <a:pt x="520" y="15"/>
                </a:lnTo>
                <a:cubicBezTo>
                  <a:pt x="525" y="15"/>
                  <a:pt x="530" y="15"/>
                  <a:pt x="536" y="16"/>
                </a:cubicBezTo>
                <a:cubicBezTo>
                  <a:pt x="541" y="17"/>
                  <a:pt x="546" y="19"/>
                  <a:pt x="550" y="21"/>
                </a:cubicBezTo>
                <a:cubicBezTo>
                  <a:pt x="555" y="23"/>
                  <a:pt x="560" y="25"/>
                  <a:pt x="564" y="28"/>
                </a:cubicBezTo>
                <a:cubicBezTo>
                  <a:pt x="569" y="31"/>
                  <a:pt x="573" y="34"/>
                  <a:pt x="576" y="38"/>
                </a:cubicBezTo>
                <a:cubicBezTo>
                  <a:pt x="580" y="41"/>
                  <a:pt x="583" y="45"/>
                  <a:pt x="586" y="50"/>
                </a:cubicBezTo>
                <a:cubicBezTo>
                  <a:pt x="589" y="54"/>
                  <a:pt x="591" y="59"/>
                  <a:pt x="593" y="64"/>
                </a:cubicBezTo>
                <a:cubicBezTo>
                  <a:pt x="595" y="68"/>
                  <a:pt x="597" y="73"/>
                  <a:pt x="598" y="78"/>
                </a:cubicBezTo>
                <a:cubicBezTo>
                  <a:pt x="599" y="84"/>
                  <a:pt x="599" y="89"/>
                  <a:pt x="600" y="94"/>
                </a:cubicBezTo>
                <a:lnTo>
                  <a:pt x="600" y="520"/>
                </a:lnTo>
                <a:cubicBezTo>
                  <a:pt x="599" y="525"/>
                  <a:pt x="599" y="530"/>
                  <a:pt x="598" y="536"/>
                </a:cubicBezTo>
                <a:cubicBezTo>
                  <a:pt x="597" y="541"/>
                  <a:pt x="595" y="546"/>
                  <a:pt x="593" y="550"/>
                </a:cubicBezTo>
                <a:cubicBezTo>
                  <a:pt x="591" y="555"/>
                  <a:pt x="589" y="560"/>
                  <a:pt x="586" y="564"/>
                </a:cubicBezTo>
                <a:cubicBezTo>
                  <a:pt x="583" y="569"/>
                  <a:pt x="580" y="573"/>
                  <a:pt x="576" y="576"/>
                </a:cubicBezTo>
                <a:cubicBezTo>
                  <a:pt x="573" y="580"/>
                  <a:pt x="569" y="583"/>
                  <a:pt x="564" y="586"/>
                </a:cubicBezTo>
                <a:cubicBezTo>
                  <a:pt x="560" y="589"/>
                  <a:pt x="555" y="591"/>
                  <a:pt x="550" y="593"/>
                </a:cubicBezTo>
                <a:cubicBezTo>
                  <a:pt x="546" y="595"/>
                  <a:pt x="541" y="597"/>
                  <a:pt x="536" y="598"/>
                </a:cubicBezTo>
                <a:cubicBezTo>
                  <a:pt x="530" y="599"/>
                  <a:pt x="525" y="600"/>
                  <a:pt x="520" y="600"/>
                </a:cubicBezTo>
                <a:lnTo>
                  <a:pt x="94" y="600"/>
                </a:lnTo>
                <a:cubicBezTo>
                  <a:pt x="89" y="600"/>
                  <a:pt x="84" y="599"/>
                  <a:pt x="78" y="598"/>
                </a:cubicBezTo>
                <a:cubicBezTo>
                  <a:pt x="73" y="597"/>
                  <a:pt x="68" y="595"/>
                  <a:pt x="64" y="593"/>
                </a:cubicBezTo>
                <a:cubicBezTo>
                  <a:pt x="59" y="591"/>
                  <a:pt x="54" y="589"/>
                  <a:pt x="50" y="586"/>
                </a:cubicBezTo>
                <a:cubicBezTo>
                  <a:pt x="45" y="583"/>
                  <a:pt x="41" y="580"/>
                  <a:pt x="38" y="576"/>
                </a:cubicBezTo>
                <a:cubicBezTo>
                  <a:pt x="34" y="573"/>
                  <a:pt x="31" y="569"/>
                  <a:pt x="28" y="564"/>
                </a:cubicBezTo>
                <a:cubicBezTo>
                  <a:pt x="25" y="560"/>
                  <a:pt x="23" y="555"/>
                  <a:pt x="21" y="550"/>
                </a:cubicBezTo>
                <a:cubicBezTo>
                  <a:pt x="19" y="546"/>
                  <a:pt x="17" y="541"/>
                  <a:pt x="16" y="536"/>
                </a:cubicBezTo>
                <a:cubicBezTo>
                  <a:pt x="15" y="530"/>
                  <a:pt x="15" y="525"/>
                  <a:pt x="15" y="520"/>
                </a:cubicBezTo>
              </a:path>
            </a:pathLst>
          </a:custGeom>
          <a:noFill/>
          <a:ln w="19050" cap="flat">
            <a:solidFill>
              <a:srgbClr val="9AC0CA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" name="textbox 96"/>
          <p:cNvSpPr/>
          <p:nvPr/>
        </p:nvSpPr>
        <p:spPr>
          <a:xfrm>
            <a:off x="596900" y="4859146"/>
            <a:ext cx="4831715" cy="3406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7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72134" algn="l" rtl="0" eaLnBrk="0">
              <a:lnSpc>
                <a:spcPct val="88000"/>
              </a:lnSpc>
              <a:tabLst/>
            </a:pPr>
            <a:r>
              <a:rPr sz="1600" kern="0" spc="7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五个动词并列</a:t>
            </a:r>
            <a:endParaRPr sz="1600" dirty="0">
              <a:latin typeface="Microsoft YaHei"/>
              <a:ea typeface="Microsoft YaHei"/>
              <a:cs typeface="Microsoft YaHei"/>
            </a:endParaRPr>
          </a:p>
          <a:p>
            <a:pPr marL="565150" indent="3810" algn="l" rtl="0" eaLnBrk="0">
              <a:lnSpc>
                <a:spcPct val="138000"/>
              </a:lnSpc>
              <a:spcBef>
                <a:spcPts val="1189"/>
              </a:spcBef>
              <a:tabLst/>
            </a:pP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Choosing... deciding...</a:t>
            </a:r>
            <a:r>
              <a:rPr sz="1300" kern="0" spc="-7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joining... applying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... picking</a:t>
            </a:r>
            <a:r>
              <a:rPr sz="1300" kern="0" spc="2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层层叠加的选择清单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spcBef>
                <a:spcPts val="615"/>
              </a:spcBef>
              <a:tabLst>
                <a:tab pos="141604" algn="l"/>
              </a:tabLst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100" b="1" kern="0" spc="-40" baseline="-33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20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600" kern="0" spc="-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主句</a:t>
            </a:r>
            <a:endParaRPr sz="1600" dirty="0">
              <a:latin typeface="Microsoft YaHei"/>
              <a:ea typeface="Microsoft YaHei"/>
              <a:cs typeface="Microsoft YaHei"/>
            </a:endParaRPr>
          </a:p>
          <a:p>
            <a:pPr marL="568959" algn="l" rtl="0" eaLnBrk="0">
              <a:lnSpc>
                <a:spcPts val="1757"/>
              </a:lnSpc>
              <a:spcBef>
                <a:spcPts val="1569"/>
              </a:spcBef>
              <a:tabLst/>
            </a:pP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all</a:t>
            </a:r>
            <a:r>
              <a:rPr sz="1300" kern="0" spc="1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these</a:t>
            </a:r>
            <a:r>
              <a:rPr sz="1300" kern="0" spc="1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decisions</a:t>
            </a:r>
            <a:r>
              <a:rPr sz="1300" kern="0" spc="1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press</a:t>
            </a:r>
            <a:r>
              <a:rPr sz="1300" b="1" kern="0" spc="1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down</a:t>
            </a:r>
            <a:r>
              <a:rPr sz="1300" b="1" kern="0" spc="1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1300" b="1" kern="0" spc="1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an</a:t>
            </a:r>
            <a:r>
              <a:rPr sz="1300" kern="0" spc="1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18</a:t>
            </a:r>
            <a:r>
              <a:rPr sz="1300" kern="0" spc="10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year</a:t>
            </a:r>
            <a:r>
              <a:rPr sz="1300" kern="0" spc="10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old</a:t>
            </a: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611"/>
              </a:spcBef>
              <a:tabLst>
                <a:tab pos="142875" algn="l"/>
              </a:tabLst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100" b="1" kern="0" spc="10" baseline="-33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20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600" kern="0" spc="1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定语从句</a:t>
            </a:r>
            <a:endParaRPr sz="16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ts val="1757"/>
              </a:lnSpc>
              <a:spcBef>
                <a:spcPts val="1328"/>
              </a:spcBef>
              <a:tabLst/>
            </a:pPr>
            <a:r>
              <a:rPr sz="1300" kern="0" spc="5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who... was mainly 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concerned with passing high school</a:t>
            </a:r>
            <a:endParaRPr sz="1300" dirty="0">
              <a:latin typeface="Arial"/>
              <a:ea typeface="Arial"/>
              <a:cs typeface="Arial"/>
            </a:endParaRPr>
          </a:p>
          <a:p>
            <a:pPr marL="568959" algn="l" rtl="0" eaLnBrk="0">
              <a:lnSpc>
                <a:spcPts val="1863"/>
              </a:lnSpc>
              <a:tabLst/>
            </a:pPr>
            <a:r>
              <a:rPr sz="1300" kern="0" spc="2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exams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98" name="textbox 98"/>
          <p:cNvSpPr/>
          <p:nvPr/>
        </p:nvSpPr>
        <p:spPr>
          <a:xfrm>
            <a:off x="869893" y="3189261"/>
            <a:ext cx="9476105" cy="530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30000"/>
              </a:lnSpc>
              <a:tabLst/>
            </a:pP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Choosing a major,</a:t>
            </a:r>
            <a:r>
              <a:rPr sz="1300" i="1" kern="0" spc="1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deciding on minors, joining clubs,</a:t>
            </a:r>
            <a:r>
              <a:rPr sz="1300" i="1" kern="0" spc="1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applying for internships,</a:t>
            </a:r>
            <a:r>
              <a:rPr sz="1300" i="1" kern="0" spc="12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even picking</a:t>
            </a:r>
            <a:r>
              <a:rPr sz="1300" i="1" kern="0" spc="7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a career path</a:t>
            </a:r>
            <a:r>
              <a:rPr sz="1300" i="1" kern="0" spc="18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</a:t>
            </a:r>
            <a:r>
              <a:rPr sz="1300" i="1" kern="0" spc="6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300" i="1" kern="0" spc="-2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l these</a:t>
            </a:r>
            <a:r>
              <a:rPr sz="1300" i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decisions press down on an 18-year-old</a:t>
            </a:r>
            <a:r>
              <a:rPr sz="1300" i="1" kern="0" spc="-5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who, just a year ago, was mainly concerne</a:t>
            </a:r>
            <a:r>
              <a:rPr sz="1300" i="1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1300" i="1" kern="0" spc="-5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 passing</a:t>
            </a:r>
            <a:r>
              <a:rPr sz="1300" i="1" kern="0" spc="15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 school exams.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5928643" y="4811140"/>
            <a:ext cx="4818379" cy="7664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90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-1270" algn="l" rtl="0" eaLnBrk="0">
              <a:lnSpc>
                <a:spcPct val="126000"/>
              </a:lnSpc>
              <a:tabLst/>
            </a:pP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选择专业、确定辅修、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加入社团、</a:t>
            </a:r>
            <a:r>
              <a:rPr sz="1300" kern="0" spc="-19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申请实习</a:t>
            </a:r>
            <a:r>
              <a:rPr sz="1300" kern="0" spc="-21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，甚至规划职业道路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</a:t>
            </a:r>
            <a:r>
              <a:rPr sz="1300" kern="0" spc="-12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所有这些决定都压在一个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18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岁的年轻人身上</a:t>
            </a:r>
            <a:r>
              <a:rPr sz="1300" kern="0" spc="-20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而就在一年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前</a:t>
            </a:r>
            <a:r>
              <a:rPr sz="1300" kern="0" spc="-1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，他主要关心的还只是如何通过高中考试。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textbox 102"/>
          <p:cNvSpPr/>
          <p:nvPr/>
        </p:nvSpPr>
        <p:spPr>
          <a:xfrm>
            <a:off x="611806" y="2220959"/>
            <a:ext cx="7796530" cy="447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4000"/>
              </a:lnSpc>
              <a:tabLst/>
            </a:pPr>
            <a:r>
              <a:rPr sz="3300" b="1" kern="0" spc="-8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Sentence</a:t>
            </a:r>
            <a:r>
              <a:rPr sz="3300" b="1" kern="0" spc="-28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kern="0" spc="-8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Analysis — The </a:t>
            </a:r>
            <a:r>
              <a:rPr sz="3300" b="1" kern="0" spc="-9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List of</a:t>
            </a:r>
            <a:r>
              <a:rPr sz="3300" b="1" kern="0" spc="-20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kern="0" spc="-9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Choices</a:t>
            </a:r>
            <a:endParaRPr sz="3300" dirty="0">
              <a:latin typeface="Arial"/>
              <a:ea typeface="Arial"/>
              <a:cs typeface="Arial"/>
            </a:endParaRPr>
          </a:p>
        </p:txBody>
      </p:sp>
      <p:sp>
        <p:nvSpPr>
          <p:cNvPr id="104" name="textbox 104"/>
          <p:cNvSpPr/>
          <p:nvPr/>
        </p:nvSpPr>
        <p:spPr>
          <a:xfrm>
            <a:off x="5924871" y="6589572"/>
            <a:ext cx="4826000" cy="482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6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indent="-3175" algn="l" rtl="0" eaLnBrk="0">
              <a:lnSpc>
                <a:spcPct val="118000"/>
              </a:lnSpc>
              <a:tabLst/>
            </a:pP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排比 </a:t>
            </a:r>
            <a:r>
              <a:rPr sz="1300" b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1300" b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Accumulation</a:t>
            </a:r>
            <a:r>
              <a:rPr sz="1300" b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): 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五个动词短语层层叠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加</a:t>
            </a:r>
            <a:r>
              <a:rPr sz="1300" kern="0" spc="-21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，制造强烈的压迫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感与节奏感。</a:t>
            </a:r>
            <a:r>
              <a:rPr sz="1300" kern="0" spc="-28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读者在阅读中感受到与主角相同的重压。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6" name="picture 106">
            <a:hlinkClick r:id="rId3" action="ppaction://hlinkfil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630733" y="8540271"/>
            <a:ext cx="1653526" cy="320488"/>
          </a:xfrm>
          <a:prstGeom prst="rect">
            <a:avLst/>
          </a:prstGeom>
        </p:spPr>
      </p:pic>
      <p:sp>
        <p:nvSpPr>
          <p:cNvPr id="108" name="textbox 108"/>
          <p:cNvSpPr/>
          <p:nvPr/>
        </p:nvSpPr>
        <p:spPr>
          <a:xfrm>
            <a:off x="600075" y="4327016"/>
            <a:ext cx="962025" cy="266700"/>
          </a:xfrm>
          <a:prstGeom prst="rect">
            <a:avLst/>
          </a:prstGeom>
          <a:solidFill>
            <a:srgbClr val="EEDDD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12395" algn="l" rtl="0" eaLnBrk="0">
              <a:lnSpc>
                <a:spcPts val="1308"/>
              </a:lnSpc>
              <a:spcBef>
                <a:spcPts val="2"/>
              </a:spcBef>
              <a:tabLst/>
            </a:pP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Q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1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结构拆解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5934075" y="4327016"/>
            <a:ext cx="962025" cy="266700"/>
          </a:xfrm>
          <a:prstGeom prst="rect">
            <a:avLst/>
          </a:prstGeom>
          <a:solidFill>
            <a:srgbClr val="EEDDD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5095" algn="l" rtl="0" eaLnBrk="0">
              <a:lnSpc>
                <a:spcPts val="1308"/>
              </a:lnSpc>
              <a:spcBef>
                <a:spcPts val="2"/>
              </a:spcBef>
              <a:tabLst/>
            </a:pP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 </a:t>
            </a:r>
            <a:r>
              <a:rPr sz="1000" kern="0" spc="7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参考译文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112" name="table 112"/>
          <p:cNvGraphicFramePr>
            <a:graphicFrameLocks noGrp="1"/>
          </p:cNvGraphicFramePr>
          <p:nvPr/>
        </p:nvGraphicFramePr>
        <p:xfrm>
          <a:off x="5934075" y="6098666"/>
          <a:ext cx="962025" cy="266700"/>
        </p:xfrm>
        <a:graphic>
          <a:graphicData uri="http://schemas.openxmlformats.org/drawingml/2006/table">
            <a:tbl>
              <a:tblPr/>
              <a:tblGrid>
                <a:gridCol w="962025"/>
              </a:tblGrid>
              <a:tr h="254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204" algn="l" rtl="0" eaLnBrk="0">
                        <a:lnSpc>
                          <a:spcPts val="1264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egoe UI Symbol"/>
                          <a:ea typeface="Segoe UI Symbol"/>
                          <a:cs typeface="Segoe UI Symbol"/>
                        </a:rPr>
                        <a:t>✍ </a:t>
                      </a:r>
                      <a:r>
                        <a:rPr sz="1000" kern="0" spc="130" dirty="0">
                          <a:solidFill>
                            <a:srgbClr val="E1C2C2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修辞手法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1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2" name="group 2"/>
          <p:cNvGrpSpPr/>
          <p:nvPr/>
        </p:nvGrpSpPr>
        <p:grpSpPr>
          <a:xfrm rot="21600000">
            <a:off x="600075" y="4784216"/>
            <a:ext cx="406598" cy="406598"/>
            <a:chOff x="0" y="0"/>
            <a:chExt cx="406598" cy="406598"/>
          </a:xfrm>
        </p:grpSpPr>
        <p:pic>
          <p:nvPicPr>
            <p:cNvPr id="114" name="picture 1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06598" cy="406598"/>
            </a:xfrm>
            <a:prstGeom prst="rect">
              <a:avLst/>
            </a:prstGeom>
          </p:spPr>
        </p:pic>
        <p:sp>
          <p:nvSpPr>
            <p:cNvPr id="116" name="textbox 116"/>
            <p:cNvSpPr/>
            <p:nvPr/>
          </p:nvSpPr>
          <p:spPr>
            <a:xfrm>
              <a:off x="142424" y="145919"/>
              <a:ext cx="112395" cy="1733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44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75000"/>
                </a:lnSpc>
                <a:tabLst/>
              </a:pPr>
              <a:r>
                <a:rPr sz="1300" b="1" kern="0" spc="-6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</a:t>
              </a:r>
              <a:endParaRPr sz="1300" dirty="0"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118" name="picture 1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934075" y="5841491"/>
            <a:ext cx="4905375" cy="19050"/>
          </a:xfrm>
          <a:prstGeom prst="rect">
            <a:avLst/>
          </a:prstGeom>
        </p:spPr>
      </p:pic>
      <p:pic>
        <p:nvPicPr>
          <p:cNvPr id="120" name="picture 1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00075" y="3003042"/>
            <a:ext cx="19050" cy="933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icture 1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0075" y="476250"/>
            <a:ext cx="7610475" cy="4305300"/>
          </a:xfrm>
          <a:prstGeom prst="rect">
            <a:avLst/>
          </a:prstGeom>
        </p:spPr>
      </p:pic>
      <p:sp>
        <p:nvSpPr>
          <p:cNvPr id="124" name="textbox 124"/>
          <p:cNvSpPr/>
          <p:nvPr/>
        </p:nvSpPr>
        <p:spPr>
          <a:xfrm>
            <a:off x="625475" y="8139594"/>
            <a:ext cx="4773295" cy="17405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9850" algn="l" rtl="0" eaLnBrk="0">
              <a:lnSpc>
                <a:spcPts val="1757"/>
              </a:lnSpc>
              <a:tabLst>
                <a:tab pos="255270" algn="l"/>
              </a:tabLst>
            </a:pP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300" kern="0" spc="8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主干</a:t>
            </a:r>
            <a:r>
              <a:rPr sz="1300" kern="0" spc="-28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8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（主系表）</a:t>
            </a:r>
            <a:r>
              <a:rPr sz="1300" kern="0" spc="-25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1" kern="0" spc="8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300" kern="0" spc="8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question</a:t>
            </a:r>
            <a:r>
              <a:rPr sz="1300" kern="0" spc="8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300" kern="0" spc="7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..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becomes</a:t>
            </a:r>
            <a:r>
              <a:rPr sz="1300" kern="0" spc="7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300" kern="0" spc="7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constant</a:t>
            </a:r>
            <a:endParaRPr sz="1300" dirty="0">
              <a:latin typeface="Arial"/>
              <a:ea typeface="Arial"/>
              <a:cs typeface="Arial"/>
            </a:endParaRPr>
          </a:p>
          <a:p>
            <a:pPr marL="256540" algn="l" rtl="0" eaLnBrk="0">
              <a:lnSpc>
                <a:spcPts val="2066"/>
              </a:lnSpc>
              <a:tabLst/>
            </a:pP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companion</a:t>
            </a:r>
            <a:endParaRPr sz="1300" dirty="0">
              <a:latin typeface="Arial"/>
              <a:ea typeface="Arial"/>
              <a:cs typeface="Arial"/>
            </a:endParaRPr>
          </a:p>
          <a:p>
            <a:pPr marL="69850" algn="l" rtl="0" eaLnBrk="0">
              <a:lnSpc>
                <a:spcPts val="1757"/>
              </a:lnSpc>
              <a:spcBef>
                <a:spcPts val="975"/>
              </a:spcBef>
              <a:tabLst>
                <a:tab pos="260984" algn="l"/>
              </a:tabLst>
            </a:pP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300" kern="0" spc="9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同位语</a:t>
            </a:r>
            <a:r>
              <a:rPr sz="1300" b="1" kern="0" spc="9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1300" kern="0" spc="9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'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What</a:t>
            </a:r>
            <a:r>
              <a:rPr sz="1300" kern="0" spc="9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do</a:t>
            </a:r>
            <a:r>
              <a:rPr sz="1300" kern="0" spc="9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1300" kern="0" spc="9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want</a:t>
            </a:r>
            <a:r>
              <a:rPr sz="1300" kern="0" spc="9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300" kern="0" spc="9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do</a:t>
            </a:r>
            <a:r>
              <a:rPr sz="1300" kern="0" spc="9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1300" kern="0" spc="9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my</a:t>
            </a:r>
            <a:r>
              <a:rPr sz="1300" kern="0" spc="9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life</a:t>
            </a:r>
            <a:r>
              <a:rPr sz="1300" kern="0" spc="9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?' </a:t>
            </a:r>
            <a:r>
              <a:rPr sz="1300" kern="0" spc="9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解释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endParaRPr sz="1300" dirty="0">
              <a:latin typeface="Arial"/>
              <a:ea typeface="Arial"/>
              <a:cs typeface="Arial"/>
            </a:endParaRPr>
          </a:p>
          <a:p>
            <a:pPr marL="256540" algn="l" rtl="0" eaLnBrk="0">
              <a:lnSpc>
                <a:spcPts val="2066"/>
              </a:lnSpc>
              <a:tabLst/>
            </a:pPr>
            <a:r>
              <a:rPr sz="1300" kern="0" spc="5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question</a:t>
            </a: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53365" indent="-183514" algn="l" rtl="0" eaLnBrk="0">
              <a:lnSpc>
                <a:spcPct val="138000"/>
              </a:lnSpc>
              <a:spcBef>
                <a:spcPts val="2"/>
              </a:spcBef>
              <a:tabLst>
                <a:tab pos="252729" algn="l"/>
              </a:tabLst>
            </a:pP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300" kern="0" spc="7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现在分词短语</a:t>
            </a:r>
            <a:r>
              <a:rPr sz="1300" b="1" kern="0" spc="7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whispering</a:t>
            </a:r>
            <a:r>
              <a:rPr sz="1300" kern="0" spc="7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...</a:t>
            </a:r>
            <a:r>
              <a:rPr sz="1300" kern="0" spc="6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300" kern="0" spc="6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screaming</a:t>
            </a:r>
            <a:r>
              <a:rPr sz="1300" kern="0" spc="6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... </a:t>
            </a:r>
            <a:r>
              <a:rPr sz="1300" kern="0" spc="6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作伴随状语，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拟人化修辞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6" name="picture 1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8175" y="9477375"/>
            <a:ext cx="57150" cy="57150"/>
          </a:xfrm>
          <a:prstGeom prst="rect">
            <a:avLst/>
          </a:prstGeom>
        </p:spPr>
      </p:pic>
      <p:pic>
        <p:nvPicPr>
          <p:cNvPr id="128" name="picture 1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38175" y="8867775"/>
            <a:ext cx="57150" cy="57150"/>
          </a:xfrm>
          <a:prstGeom prst="rect">
            <a:avLst/>
          </a:prstGeom>
        </p:spPr>
      </p:pic>
      <p:pic>
        <p:nvPicPr>
          <p:cNvPr id="130" name="picture 1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38175" y="8258175"/>
            <a:ext cx="57150" cy="57150"/>
          </a:xfrm>
          <a:prstGeom prst="rect">
            <a:avLst/>
          </a:prstGeom>
        </p:spPr>
      </p:pic>
      <p:sp>
        <p:nvSpPr>
          <p:cNvPr id="132" name="textbox 132"/>
          <p:cNvSpPr/>
          <p:nvPr/>
        </p:nvSpPr>
        <p:spPr>
          <a:xfrm>
            <a:off x="602805" y="5132943"/>
            <a:ext cx="8937625" cy="905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4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ct val="84000"/>
              </a:lnSpc>
              <a:tabLst/>
            </a:pPr>
            <a:r>
              <a:rPr sz="3300" b="1" kern="0" spc="-8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Se</a:t>
            </a:r>
            <a:r>
              <a:rPr sz="3300" b="1" kern="0" spc="-7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ntence</a:t>
            </a:r>
            <a:r>
              <a:rPr sz="3300" b="1" kern="0" spc="-28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kern="0" spc="-7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Analysis — The Question Tha</a:t>
            </a:r>
            <a:r>
              <a:rPr sz="3300" b="1" kern="0" spc="-8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t Neve</a:t>
            </a:r>
            <a:r>
              <a:rPr sz="3300" b="1" kern="0" spc="-6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endParaRPr sz="3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spcBef>
                <a:spcPts val="9"/>
              </a:spcBef>
              <a:tabLst/>
            </a:pPr>
            <a:r>
              <a:rPr sz="3300" b="1" kern="0" spc="-12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Leaves</a:t>
            </a:r>
            <a:endParaRPr sz="3300" dirty="0">
              <a:latin typeface="Arial"/>
              <a:ea typeface="Arial"/>
              <a:cs typeface="Arial"/>
            </a:endParaRPr>
          </a:p>
        </p:txBody>
      </p:sp>
      <p:sp>
        <p:nvSpPr>
          <p:cNvPr id="134" name="rect 134"/>
          <p:cNvSpPr/>
          <p:nvPr/>
        </p:nvSpPr>
        <p:spPr>
          <a:xfrm>
            <a:off x="5931407" y="8884919"/>
            <a:ext cx="4924115" cy="1113353"/>
          </a:xfrm>
          <a:prstGeom prst="rect">
            <a:avLst/>
          </a:prstGeom>
          <a:solidFill>
            <a:srgbClr val="F0DED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6" name="textbox 136"/>
          <p:cNvSpPr/>
          <p:nvPr/>
        </p:nvSpPr>
        <p:spPr>
          <a:xfrm>
            <a:off x="864581" y="6548919"/>
            <a:ext cx="9286240" cy="513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757"/>
              </a:lnSpc>
              <a:tabLst/>
            </a:pP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question</a:t>
            </a:r>
            <a:r>
              <a:rPr sz="1300" i="1" kern="0" spc="18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'What do</a:t>
            </a:r>
            <a:r>
              <a:rPr sz="1300" i="1" kern="0" spc="12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I want to do with my</a:t>
            </a:r>
            <a:r>
              <a:rPr sz="1300" i="1" kern="0" spc="1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life?</a:t>
            </a:r>
            <a:r>
              <a:rPr sz="1300" i="1" kern="0" spc="-2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' becomes a constant companion, whispering</a:t>
            </a:r>
            <a:r>
              <a:rPr sz="1300" i="1" kern="0" spc="1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moments of</a:t>
            </a:r>
            <a:r>
              <a:rPr sz="1300" i="1" kern="0" spc="-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quiet</a:t>
            </a:r>
            <a:r>
              <a:rPr sz="1300" i="1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and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80"/>
              </a:lnSpc>
              <a:tabLst/>
            </a:pP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screaming</a:t>
            </a:r>
            <a:r>
              <a:rPr sz="1300" i="1" kern="0" spc="15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i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moments of panic.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138" name="table 138"/>
          <p:cNvGraphicFramePr>
            <a:graphicFrameLocks noGrp="1"/>
          </p:cNvGraphicFramePr>
          <p:nvPr/>
        </p:nvGraphicFramePr>
        <p:xfrm>
          <a:off x="6123485" y="8905875"/>
          <a:ext cx="3805554" cy="1057275"/>
        </p:xfrm>
        <a:graphic>
          <a:graphicData uri="http://schemas.openxmlformats.org/drawingml/2006/table">
            <a:tbl>
              <a:tblPr/>
              <a:tblGrid>
                <a:gridCol w="2267585"/>
                <a:gridCol w="1537969"/>
              </a:tblGrid>
              <a:tr h="1057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3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6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whispering</a:t>
                      </a:r>
                      <a:endParaRPr sz="1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3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平静时的低声细语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9050" cap="flat" cmpd="sng" algn="ctr">
                      <a:solidFill>
                        <a:srgbClr val="B2A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164" algn="l" rtl="0" eaLnBrk="0">
                        <a:lnSpc>
                          <a:spcPct val="85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6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screaming</a:t>
                      </a:r>
                      <a:endParaRPr sz="1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3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恐慌时的尖叫呐喊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B2A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0" name="textbox 140"/>
          <p:cNvSpPr/>
          <p:nvPr/>
        </p:nvSpPr>
        <p:spPr>
          <a:xfrm>
            <a:off x="5922471" y="8139594"/>
            <a:ext cx="4927600" cy="5213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indent="-7620" algn="l" rtl="0" eaLnBrk="0">
              <a:lnSpc>
                <a:spcPct val="128000"/>
              </a:lnSpc>
              <a:tabLst/>
            </a:pPr>
            <a:r>
              <a:rPr sz="1300" kern="0" spc="8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拟人化 </a:t>
            </a:r>
            <a:r>
              <a:rPr sz="1300" b="1" kern="0" spc="8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1300" b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Personification</a:t>
            </a:r>
            <a:r>
              <a:rPr sz="1300" b="1" kern="0" spc="8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): </a:t>
            </a:r>
            <a:r>
              <a:rPr sz="1300" kern="0" spc="0" dirty="0">
                <a:solidFill>
                  <a:srgbClr val="FF6B35">
                    <a:alpha val="100000"/>
                  </a:srgbClr>
                </a:solidFill>
                <a:latin typeface="Arial"/>
                <a:ea typeface="Arial"/>
                <a:cs typeface="Arial"/>
              </a:rPr>
              <a:t>whisper</a:t>
            </a:r>
            <a:r>
              <a:rPr sz="1300" kern="0" spc="80" dirty="0">
                <a:solidFill>
                  <a:srgbClr val="FF6B35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8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300" kern="0" spc="7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FF6B35">
                    <a:alpha val="100000"/>
                  </a:srgbClr>
                </a:solidFill>
                <a:latin typeface="Arial"/>
                <a:ea typeface="Arial"/>
                <a:cs typeface="Arial"/>
              </a:rPr>
              <a:t>scream</a:t>
            </a:r>
            <a:r>
              <a:rPr sz="1300" kern="0" spc="70" dirty="0">
                <a:solidFill>
                  <a:srgbClr val="FF6B35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7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的对比赋予</a:t>
            </a:r>
            <a:r>
              <a:rPr sz="1300" kern="0" spc="7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"</a:t>
            </a:r>
            <a:r>
              <a:rPr sz="1300" kern="0" spc="7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问题</a:t>
            </a:r>
            <a:r>
              <a:rPr sz="1300" kern="0" spc="7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"</a:t>
            </a:r>
            <a:r>
              <a:rPr sz="1300" kern="0" spc="7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</a:t>
            </a:r>
            <a:r>
              <a:rPr sz="1300" kern="0" spc="2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生命</a:t>
            </a:r>
            <a:r>
              <a:rPr sz="1300" kern="0" spc="-20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2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，生动呈现焦虑的起伏</a:t>
            </a:r>
            <a:r>
              <a:rPr sz="1300" kern="0" spc="-1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2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</a:t>
            </a:r>
            <a:r>
              <a:rPr sz="1300" kern="0" spc="-1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2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pic>
        <p:nvPicPr>
          <p:cNvPr id="142" name="picture 142">
            <a:hlinkClick r:id="rId7" action="ppaction://hlinkfile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630733" y="10190764"/>
            <a:ext cx="1653526" cy="320488"/>
          </a:xfrm>
          <a:prstGeom prst="rect">
            <a:avLst/>
          </a:prstGeom>
        </p:spPr>
      </p:pic>
      <p:sp>
        <p:nvSpPr>
          <p:cNvPr id="144" name="textbox 144"/>
          <p:cNvSpPr/>
          <p:nvPr/>
        </p:nvSpPr>
        <p:spPr>
          <a:xfrm>
            <a:off x="600075" y="7686675"/>
            <a:ext cx="962025" cy="266700"/>
          </a:xfrm>
          <a:prstGeom prst="rect">
            <a:avLst/>
          </a:prstGeom>
          <a:solidFill>
            <a:srgbClr val="EEDDD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12395" algn="l" rtl="0" eaLnBrk="0">
              <a:lnSpc>
                <a:spcPts val="1308"/>
              </a:lnSpc>
              <a:spcBef>
                <a:spcPts val="2"/>
              </a:spcBef>
              <a:tabLst/>
            </a:pP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Q </a:t>
            </a:r>
            <a:r>
              <a:rPr sz="1000" kern="0" spc="12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结构拆解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5934075" y="7686675"/>
            <a:ext cx="962025" cy="266700"/>
          </a:xfrm>
          <a:prstGeom prst="rect">
            <a:avLst/>
          </a:prstGeom>
          <a:solidFill>
            <a:srgbClr val="EEDDD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16204" algn="l" rtl="0" eaLnBrk="0">
              <a:lnSpc>
                <a:spcPts val="1264"/>
              </a:lnSpc>
              <a:spcBef>
                <a:spcPts val="1"/>
              </a:spcBef>
              <a:tabLst/>
            </a:pPr>
            <a:r>
              <a:rPr sz="1000" kern="0" spc="130" dirty="0">
                <a:solidFill>
                  <a:srgbClr val="000000">
                    <a:alpha val="100000"/>
                  </a:srgbClr>
                </a:solidFill>
                <a:latin typeface="Segoe UI Symbol"/>
                <a:ea typeface="Segoe UI Symbol"/>
                <a:cs typeface="Segoe UI Symbol"/>
              </a:rPr>
              <a:t>✍ </a:t>
            </a:r>
            <a:r>
              <a:rPr sz="1000" kern="0" spc="1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修辞亮点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8" name="picture 14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00075" y="6362700"/>
            <a:ext cx="19050" cy="933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150"/>
          <p:cNvSpPr/>
          <p:nvPr/>
        </p:nvSpPr>
        <p:spPr>
          <a:xfrm>
            <a:off x="600075" y="3926967"/>
            <a:ext cx="10229850" cy="685800"/>
          </a:xfrm>
          <a:prstGeom prst="rect">
            <a:avLst/>
          </a:prstGeom>
          <a:solidFill>
            <a:srgbClr val="EEDDD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53059" algn="l" rtl="0" eaLnBrk="0">
              <a:lnSpc>
                <a:spcPts val="1594"/>
              </a:lnSpc>
              <a:spcBef>
                <a:spcPts val="4"/>
              </a:spcBef>
              <a:tabLst>
                <a:tab pos="568959" algn="l"/>
              </a:tabLst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膚 核心主旨</a:t>
            </a:r>
            <a:r>
              <a:rPr sz="13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描绘大一新生面对众多人生选择时的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Π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选择焦虑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Π</a:t>
            </a:r>
            <a:r>
              <a:rPr sz="1300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</a:t>
            </a:r>
            <a:r>
              <a:rPr sz="1300" kern="0" spc="-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既有过度分析导致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的决策瘫痪</a:t>
            </a:r>
            <a:r>
              <a:rPr sz="13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，也有仓促决策带来的后悔。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2" name="picture 1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03671" y="4175807"/>
            <a:ext cx="150018" cy="150018"/>
          </a:xfrm>
          <a:prstGeom prst="rect">
            <a:avLst/>
          </a:prstGeom>
        </p:spPr>
      </p:pic>
      <p:graphicFrame>
        <p:nvGraphicFramePr>
          <p:cNvPr id="154" name="table 154"/>
          <p:cNvGraphicFramePr>
            <a:graphicFrameLocks noGrp="1"/>
          </p:cNvGraphicFramePr>
          <p:nvPr/>
        </p:nvGraphicFramePr>
        <p:xfrm>
          <a:off x="600075" y="6289166"/>
          <a:ext cx="5045075" cy="1330325"/>
        </p:xfrm>
        <a:graphic>
          <a:graphicData uri="http://schemas.openxmlformats.org/drawingml/2006/table">
            <a:tbl>
              <a:tblPr/>
              <a:tblGrid>
                <a:gridCol w="5045075"/>
              </a:tblGrid>
              <a:tr h="1311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2225" cap="flat" cmpd="sng" algn="ctr">
                      <a:solidFill>
                        <a:srgbClr val="B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solidFill>
                        <a:srgbClr val="B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B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56" name="table 156"/>
          <p:cNvGraphicFramePr>
            <a:graphicFrameLocks noGrp="1"/>
          </p:cNvGraphicFramePr>
          <p:nvPr/>
        </p:nvGraphicFramePr>
        <p:xfrm>
          <a:off x="600075" y="6289166"/>
          <a:ext cx="5045075" cy="1330325"/>
        </p:xfrm>
        <a:graphic>
          <a:graphicData uri="http://schemas.openxmlformats.org/drawingml/2006/table">
            <a:tbl>
              <a:tblPr/>
              <a:tblGrid>
                <a:gridCol w="5045075"/>
              </a:tblGrid>
              <a:tr h="1311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2575" algn="l" rtl="0" eaLnBrk="0">
                        <a:lnSpc>
                          <a:spcPts val="1976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kern="0" spc="15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600" kern="0" spc="7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拟人修辞</a:t>
                      </a:r>
                      <a:endParaRPr sz="16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1145" indent="6985" algn="l" rtl="0" eaLnBrk="0">
                        <a:lnSpc>
                          <a:spcPct val="12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300" kern="0" spc="9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"</a:t>
                      </a:r>
                      <a:r>
                        <a:rPr sz="1300" kern="0" spc="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constant</a:t>
                      </a:r>
                      <a:r>
                        <a:rPr sz="1300" kern="0" spc="9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300" kern="0" spc="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companion</a:t>
                      </a:r>
                      <a:r>
                        <a:rPr sz="1300" kern="0" spc="9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"</a:t>
                      </a:r>
                      <a:r>
                        <a:rPr sz="1300" kern="0" spc="9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比喻焦虑的持久</a:t>
                      </a:r>
                      <a:r>
                        <a:rPr sz="1300" kern="0" spc="8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性和无处不在</a:t>
                      </a:r>
                      <a:r>
                        <a:rPr sz="1300" kern="0" spc="-21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300" kern="0" spc="8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300" kern="0" spc="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    </a:t>
                      </a:r>
                      <a:r>
                        <a:rPr sz="1300" kern="0" spc="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whisper</a:t>
                      </a:r>
                      <a:r>
                        <a:rPr sz="1300" kern="0" spc="10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300" kern="0" spc="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scream</a:t>
                      </a:r>
                      <a:r>
                        <a:rPr sz="1300" kern="0" spc="10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300" kern="0" spc="10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对比生动表达情绪起伏。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B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58" name="table 158"/>
          <p:cNvGraphicFramePr>
            <a:graphicFrameLocks noGrp="1"/>
          </p:cNvGraphicFramePr>
          <p:nvPr/>
        </p:nvGraphicFramePr>
        <p:xfrm>
          <a:off x="5800725" y="6289166"/>
          <a:ext cx="5045075" cy="1330325"/>
        </p:xfrm>
        <a:graphic>
          <a:graphicData uri="http://schemas.openxmlformats.org/drawingml/2006/table">
            <a:tbl>
              <a:tblPr/>
              <a:tblGrid>
                <a:gridCol w="5045075"/>
              </a:tblGrid>
              <a:tr h="1311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2225" cap="flat" cmpd="sng" algn="ctr">
                      <a:solidFill>
                        <a:srgbClr val="E1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solidFill>
                        <a:srgbClr val="E1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1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E1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60" name="table 160"/>
          <p:cNvGraphicFramePr>
            <a:graphicFrameLocks noGrp="1"/>
          </p:cNvGraphicFramePr>
          <p:nvPr/>
        </p:nvGraphicFramePr>
        <p:xfrm>
          <a:off x="5800725" y="6289166"/>
          <a:ext cx="5045075" cy="1330325"/>
        </p:xfrm>
        <a:graphic>
          <a:graphicData uri="http://schemas.openxmlformats.org/drawingml/2006/table">
            <a:tbl>
              <a:tblPr/>
              <a:tblGrid>
                <a:gridCol w="5045075"/>
              </a:tblGrid>
              <a:tr h="1311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52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003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6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酯 </a:t>
                      </a:r>
                      <a:r>
                        <a:rPr sz="1600" kern="0" spc="9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铺垫作用</a:t>
                      </a:r>
                      <a:endParaRPr sz="16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72415" algn="l" rtl="0" eaLnBrk="0">
                        <a:lnSpc>
                          <a:spcPct val="87000"/>
                        </a:lnSpc>
                        <a:spcBef>
                          <a:spcPts val="1377"/>
                        </a:spcBef>
                        <a:tabLst/>
                      </a:pPr>
                      <a:r>
                        <a:rPr sz="1300" kern="0" spc="4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本段为后文可能的解决方案或应对建议铺垫</a:t>
                      </a:r>
                      <a:r>
                        <a:rPr sz="1300" kern="0" spc="-21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300" kern="0" spc="4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300" kern="0" spc="3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逻辑衔接自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72415" algn="l" rtl="0" eaLnBrk="0">
                        <a:lnSpc>
                          <a:spcPts val="2175"/>
                        </a:lnSpc>
                        <a:tabLst/>
                      </a:pPr>
                      <a:r>
                        <a:rPr sz="1300" kern="0" spc="1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然</a:t>
                      </a:r>
                      <a:r>
                        <a:rPr sz="1300" kern="0" spc="-18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300" kern="0" spc="1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300" kern="0" spc="-27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300" kern="0" spc="1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引导读者思考出路。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E1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1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62" name="table 162"/>
          <p:cNvGraphicFramePr>
            <a:graphicFrameLocks noGrp="1"/>
          </p:cNvGraphicFramePr>
          <p:nvPr/>
        </p:nvGraphicFramePr>
        <p:xfrm>
          <a:off x="600075" y="4812791"/>
          <a:ext cx="5045075" cy="1320800"/>
        </p:xfrm>
        <a:graphic>
          <a:graphicData uri="http://schemas.openxmlformats.org/drawingml/2006/table">
            <a:tbl>
              <a:tblPr/>
              <a:tblGrid>
                <a:gridCol w="180339"/>
                <a:gridCol w="4864734"/>
              </a:tblGrid>
              <a:tr h="1320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2225" cap="flat" cmpd="sng" algn="ctr">
                      <a:solidFill>
                        <a:srgbClr val="E1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E1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E1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9854" algn="l" rtl="0" eaLnBrk="0">
                        <a:lnSpc>
                          <a:spcPts val="1976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⑥ </a:t>
                      </a:r>
                      <a:r>
                        <a:rPr sz="1600" kern="0" spc="9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具体列举</a:t>
                      </a:r>
                      <a:endParaRPr sz="16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132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300" kern="0" spc="3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专业、辅修、社团、</a:t>
                      </a:r>
                      <a:r>
                        <a:rPr sz="1300" kern="0" spc="-25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300" kern="0" spc="3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实习、</a:t>
                      </a:r>
                      <a:r>
                        <a:rPr sz="1300" kern="0" spc="-29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300" kern="0" spc="3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职业</a:t>
                      </a:r>
                      <a:r>
                        <a:rPr sz="1300" kern="0" spc="-13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300" kern="0" spc="3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  <a:r>
                        <a:rPr sz="1300" kern="0" spc="-11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300" kern="0" spc="3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  <a:r>
                        <a:rPr sz="1300" kern="0" spc="3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展现选择的多样性和压</a:t>
                      </a:r>
                      <a:r>
                        <a:rPr sz="1300" kern="0" spc="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300" kern="0" spc="3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力的来源</a:t>
                      </a:r>
                      <a:r>
                        <a:rPr sz="1300" kern="0" spc="-15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300" kern="0" spc="3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，让读者直观感受到新生的处境。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22225" cap="flat" cmpd="sng" algn="ctr">
                      <a:solidFill>
                        <a:srgbClr val="E1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1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E1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64" name="table 164"/>
          <p:cNvGraphicFramePr>
            <a:graphicFrameLocks noGrp="1"/>
          </p:cNvGraphicFramePr>
          <p:nvPr/>
        </p:nvGraphicFramePr>
        <p:xfrm>
          <a:off x="5800725" y="4812791"/>
          <a:ext cx="5045075" cy="1320800"/>
        </p:xfrm>
        <a:graphic>
          <a:graphicData uri="http://schemas.openxmlformats.org/drawingml/2006/table">
            <a:tbl>
              <a:tblPr/>
              <a:tblGrid>
                <a:gridCol w="179070"/>
                <a:gridCol w="4866004"/>
              </a:tblGrid>
              <a:tr h="1320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2225" cap="flat" cmpd="sng" algn="ctr">
                      <a:solidFill>
                        <a:srgbClr val="CCC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CCC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CCC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ts val="1976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咖 </a:t>
                      </a:r>
                      <a:r>
                        <a:rPr sz="1600" kern="0" spc="10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对比手法</a:t>
                      </a:r>
                      <a:endParaRPr sz="16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2710" indent="1270" algn="l" rtl="0" eaLnBrk="0">
                        <a:lnSpc>
                          <a:spcPct val="132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300" kern="0" spc="3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分析瘫痪 </a:t>
                      </a:r>
                      <a:r>
                        <a:rPr sz="1300" kern="0" spc="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vs</a:t>
                      </a:r>
                      <a:r>
                        <a:rPr sz="1300" kern="0" spc="3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 </a:t>
                      </a:r>
                      <a:r>
                        <a:rPr sz="1300" kern="0" spc="3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冲动抉择</a:t>
                      </a:r>
                      <a:r>
                        <a:rPr sz="1300" kern="0" spc="-21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300" kern="0" spc="2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，两种极端并列呈现</a:t>
                      </a:r>
                      <a:r>
                        <a:rPr sz="1300" kern="0" spc="-21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300" kern="0" spc="2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，深化读者对问</a:t>
                      </a:r>
                      <a:r>
                        <a:rPr sz="1300" kern="0" spc="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</a:t>
                      </a:r>
                      <a:r>
                        <a:rPr sz="1300" kern="0" spc="1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题的理解</a:t>
                      </a:r>
                      <a:r>
                        <a:rPr sz="1300" kern="0" spc="-21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300" kern="0" spc="1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300" kern="0" spc="-27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300" kern="0" spc="1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引发共鸣</a:t>
                      </a:r>
                      <a:r>
                        <a:rPr sz="1300" kern="0" spc="0" dirty="0">
                          <a:solidFill>
                            <a:srgbClr val="6F655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22225" cap="flat" cmpd="sng" algn="ctr">
                      <a:solidFill>
                        <a:srgbClr val="CCC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CCC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6" name="textbox 166"/>
          <p:cNvSpPr/>
          <p:nvPr/>
        </p:nvSpPr>
        <p:spPr>
          <a:xfrm>
            <a:off x="601519" y="3108451"/>
            <a:ext cx="3869054" cy="465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300" kern="0" spc="60" dirty="0">
                <a:solidFill>
                  <a:srgbClr val="4B698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段落主旨与作用分析</a:t>
            </a:r>
            <a:endParaRPr sz="3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8" name="picture 168">
            <a:hlinkClick r:id="rId4" action="ppaction://hlinkfil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30733" y="8083071"/>
            <a:ext cx="1653526" cy="320488"/>
          </a:xfrm>
          <a:prstGeom prst="rect">
            <a:avLst/>
          </a:prstGeom>
        </p:spPr>
      </p:pic>
      <p:pic>
        <p:nvPicPr>
          <p:cNvPr id="170" name="picture 17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00075" y="4812791"/>
            <a:ext cx="85725" cy="1304925"/>
          </a:xfrm>
          <a:prstGeom prst="rect">
            <a:avLst/>
          </a:prstGeom>
        </p:spPr>
      </p:pic>
      <p:pic>
        <p:nvPicPr>
          <p:cNvPr id="172" name="picture 17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800725" y="4812791"/>
            <a:ext cx="85725" cy="13049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picture 1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143750" y="1574292"/>
            <a:ext cx="4286250" cy="7505699"/>
          </a:xfrm>
          <a:prstGeom prst="rect">
            <a:avLst/>
          </a:prstGeom>
        </p:spPr>
      </p:pic>
      <p:sp>
        <p:nvSpPr>
          <p:cNvPr id="176" name="textbox 176"/>
          <p:cNvSpPr/>
          <p:nvPr/>
        </p:nvSpPr>
        <p:spPr>
          <a:xfrm>
            <a:off x="591489" y="3392677"/>
            <a:ext cx="2696845" cy="50234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2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indent="-3810" algn="l" rtl="0" eaLnBrk="0">
              <a:lnSpc>
                <a:spcPct val="97000"/>
              </a:lnSpc>
              <a:tabLst/>
            </a:pPr>
            <a:r>
              <a:rPr sz="2000" kern="0" spc="-10" dirty="0">
                <a:solidFill>
                  <a:srgbClr val="4B698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你认为大一新生的</a:t>
            </a:r>
            <a:r>
              <a:rPr sz="2000" b="1" kern="0" spc="-1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"</a:t>
            </a:r>
            <a:r>
              <a:rPr sz="2000" kern="0" spc="-10" dirty="0">
                <a:solidFill>
                  <a:srgbClr val="4B698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选择</a:t>
            </a:r>
            <a:r>
              <a:rPr sz="2000" kern="0" spc="-20" dirty="0">
                <a:solidFill>
                  <a:srgbClr val="4B698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焦虑</a:t>
            </a:r>
            <a:r>
              <a:rPr sz="2000" b="1" kern="0" spc="-2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"</a:t>
            </a:r>
            <a:r>
              <a:rPr sz="2000" kern="0" spc="-20" dirty="0">
                <a:solidFill>
                  <a:srgbClr val="4B698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主要来自哪些方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23495" algn="l" rtl="0" eaLnBrk="0">
              <a:lnSpc>
                <a:spcPct val="84000"/>
              </a:lnSpc>
              <a:spcBef>
                <a:spcPts val="534"/>
              </a:spcBef>
              <a:tabLst/>
            </a:pPr>
            <a:r>
              <a:rPr sz="2000" kern="0" spc="-110" dirty="0">
                <a:solidFill>
                  <a:srgbClr val="4B698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⾯？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72134" indent="-240029" algn="l" rtl="0" eaLnBrk="0">
              <a:lnSpc>
                <a:spcPct val="127000"/>
              </a:lnSpc>
              <a:spcBef>
                <a:spcPts val="400"/>
              </a:spcBef>
              <a:tabLst>
                <a:tab pos="570230" algn="l"/>
              </a:tabLst>
            </a:pPr>
            <a:r>
              <a:rPr sz="1300" b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300" b="1" kern="0" spc="4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A. 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对自己的兴趣和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能力认识</a:t>
            </a:r>
            <a:r>
              <a:rPr sz="1300" kern="0" spc="-1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不足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70230" indent="-238125" algn="l" rtl="0" eaLnBrk="0">
              <a:lnSpc>
                <a:spcPct val="126000"/>
              </a:lnSpc>
              <a:spcBef>
                <a:spcPts val="394"/>
              </a:spcBef>
              <a:tabLst>
                <a:tab pos="579119" algn="l"/>
              </a:tabLst>
            </a:pPr>
            <a:r>
              <a:rPr sz="1300" b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300" b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300" b="1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B. 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来自家长、社会</a:t>
            </a:r>
            <a:r>
              <a:rPr sz="1300" kern="0" spc="2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的期望和</a:t>
            </a:r>
            <a:r>
              <a:rPr sz="1300" kern="0" spc="-1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压力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32104" algn="l" rtl="0" eaLnBrk="0">
              <a:lnSpc>
                <a:spcPct val="87000"/>
              </a:lnSpc>
              <a:spcBef>
                <a:spcPts val="393"/>
              </a:spcBef>
              <a:tabLst>
                <a:tab pos="573405" algn="l"/>
              </a:tabLst>
            </a:pPr>
            <a:r>
              <a:rPr sz="1300" b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300" b="1" kern="0" spc="2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C. </a:t>
            </a:r>
            <a:r>
              <a:rPr sz="1300" kern="0" spc="2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选择太多</a:t>
            </a:r>
            <a:r>
              <a:rPr sz="1300" kern="0" spc="-20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2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，害怕做错决定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32104" algn="l" rtl="0" eaLnBrk="0">
              <a:lnSpc>
                <a:spcPct val="87000"/>
              </a:lnSpc>
              <a:spcBef>
                <a:spcPts val="391"/>
              </a:spcBef>
              <a:tabLst>
                <a:tab pos="579119" algn="l"/>
              </a:tabLst>
            </a:pPr>
            <a:r>
              <a:rPr sz="1300" b="1" kern="0" spc="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300" b="1" kern="0" spc="-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D.</a:t>
            </a:r>
            <a:r>
              <a:rPr sz="1300" b="1" kern="0" spc="10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以上都有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8415" indent="-3810" algn="l" rtl="0" eaLnBrk="0">
              <a:lnSpc>
                <a:spcPct val="138000"/>
              </a:lnSpc>
              <a:spcBef>
                <a:spcPts val="2"/>
              </a:spcBef>
              <a:tabLst/>
            </a:pPr>
            <a:r>
              <a:rPr sz="1300" kern="0" spc="2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互动设计</a:t>
            </a:r>
            <a:r>
              <a:rPr sz="1300" b="1" kern="0" spc="2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1300" kern="0" spc="2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全班投票</a:t>
            </a:r>
            <a:r>
              <a:rPr sz="1300" kern="0" spc="-1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2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，邀请 </a:t>
            </a:r>
            <a:r>
              <a:rPr sz="1300" kern="0" spc="2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2-3 </a:t>
            </a:r>
            <a:r>
              <a:rPr sz="1300" kern="0" spc="2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位同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学分享个人经历或看法。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78" name="picture 1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6750" y="7209759"/>
            <a:ext cx="257462" cy="220977"/>
          </a:xfrm>
          <a:prstGeom prst="rect">
            <a:avLst/>
          </a:prstGeom>
        </p:spPr>
      </p:pic>
      <p:pic>
        <p:nvPicPr>
          <p:cNvPr id="180" name="picture 1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6750" y="6342984"/>
            <a:ext cx="257462" cy="220977"/>
          </a:xfrm>
          <a:prstGeom prst="rect">
            <a:avLst/>
          </a:prstGeom>
        </p:spPr>
      </p:pic>
      <p:pic>
        <p:nvPicPr>
          <p:cNvPr id="182" name="picture 1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6750" y="5457159"/>
            <a:ext cx="257462" cy="220977"/>
          </a:xfrm>
          <a:prstGeom prst="rect">
            <a:avLst/>
          </a:prstGeom>
        </p:spPr>
      </p:pic>
      <p:pic>
        <p:nvPicPr>
          <p:cNvPr id="184" name="picture 1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6750" y="4561809"/>
            <a:ext cx="257462" cy="220977"/>
          </a:xfrm>
          <a:prstGeom prst="rect">
            <a:avLst/>
          </a:prstGeom>
        </p:spPr>
      </p:pic>
      <p:graphicFrame>
        <p:nvGraphicFramePr>
          <p:cNvPr id="186" name="table 186"/>
          <p:cNvGraphicFramePr>
            <a:graphicFrameLocks noGrp="1"/>
          </p:cNvGraphicFramePr>
          <p:nvPr/>
        </p:nvGraphicFramePr>
        <p:xfrm>
          <a:off x="3790950" y="4212716"/>
          <a:ext cx="2778125" cy="1111250"/>
        </p:xfrm>
        <a:graphic>
          <a:graphicData uri="http://schemas.openxmlformats.org/drawingml/2006/table">
            <a:tbl>
              <a:tblPr>
                <a:solidFill>
                  <a:srgbClr val="F0DEDC"/>
                </a:solidFill>
              </a:tblPr>
              <a:tblGrid>
                <a:gridCol w="2719704"/>
                <a:gridCol w="58420"/>
              </a:tblGrid>
              <a:tr h="1111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4310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6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paralysis of</a:t>
                      </a:r>
                      <a:r>
                        <a:rPr sz="1600" b="1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6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sz="16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nalysis</a:t>
                      </a:r>
                      <a:endParaRPr sz="1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214" algn="l" rtl="0" eaLnBrk="0">
                        <a:lnSpc>
                          <a:spcPct val="8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3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过度分析→ 无法决定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22225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ED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22225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7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ED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8" name="table 188"/>
          <p:cNvGraphicFramePr>
            <a:graphicFrameLocks noGrp="1"/>
          </p:cNvGraphicFramePr>
          <p:nvPr/>
        </p:nvGraphicFramePr>
        <p:xfrm>
          <a:off x="3790950" y="5479541"/>
          <a:ext cx="2778125" cy="1111250"/>
        </p:xfrm>
        <a:graphic>
          <a:graphicData uri="http://schemas.openxmlformats.org/drawingml/2006/table">
            <a:tbl>
              <a:tblPr>
                <a:solidFill>
                  <a:srgbClr val="E5DFF1"/>
                </a:solidFill>
              </a:tblPr>
              <a:tblGrid>
                <a:gridCol w="2778125"/>
              </a:tblGrid>
              <a:tr h="1092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5579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6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impulsive c</a:t>
                      </a:r>
                      <a:r>
                        <a:rPr sz="16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hoices</a:t>
                      </a:r>
                      <a:endParaRPr sz="1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4945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3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仓促决策→ 事后后悔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22225" cap="flat" cmpd="sng" algn="ctr">
                      <a:solidFill>
                        <a:srgbClr val="B2A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2A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2A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FF1"/>
                    </a:solidFill>
                  </a:tcPr>
                </a:tc>
              </a:tr>
            </a:tbl>
          </a:graphicData>
        </a:graphic>
      </p:graphicFrame>
      <p:sp>
        <p:nvSpPr>
          <p:cNvPr id="190" name="textbox 190"/>
          <p:cNvSpPr/>
          <p:nvPr/>
        </p:nvSpPr>
        <p:spPr>
          <a:xfrm>
            <a:off x="3784146" y="6761136"/>
            <a:ext cx="2762250" cy="1073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36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-635" algn="l" rtl="0" eaLnBrk="0">
              <a:lnSpc>
                <a:spcPct val="126000"/>
              </a:lnSpc>
              <a:tabLst/>
            </a:pP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互动设计</a:t>
            </a:r>
            <a:r>
              <a:rPr sz="1300" b="1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小组讨论（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3-4 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人一组</a:t>
            </a:r>
            <a:r>
              <a:rPr sz="1300" kern="0" spc="-15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300" kern="0" spc="1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分钟</a:t>
            </a:r>
            <a:r>
              <a:rPr sz="1300" kern="0" spc="-2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），</a:t>
            </a:r>
            <a:r>
              <a:rPr sz="1300" kern="0" spc="1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每组派代表分享 </a:t>
            </a:r>
            <a:r>
              <a:rPr sz="1300" kern="0" spc="1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1 </a:t>
            </a:r>
            <a:r>
              <a:rPr sz="1300" kern="0" spc="1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条建议，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marL="13970" algn="l" rtl="0" eaLnBrk="0">
              <a:lnSpc>
                <a:spcPct val="136000"/>
              </a:lnSpc>
              <a:spcBef>
                <a:spcPts val="147"/>
              </a:spcBef>
              <a:tabLst/>
            </a:pPr>
            <a:r>
              <a:rPr sz="1300" kern="0" spc="1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</a:t>
            </a:r>
            <a:r>
              <a:rPr sz="1300" kern="0" spc="-8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1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：列出优先级、</a:t>
            </a:r>
            <a:r>
              <a:rPr sz="1300" kern="0" spc="-25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1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寻求建议、</a:t>
            </a:r>
            <a:r>
              <a:rPr sz="1300" kern="0" spc="-28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1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设定截</a:t>
            </a:r>
            <a:r>
              <a:rPr sz="1300" kern="0" spc="2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止日期等。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2" name="textbox 192"/>
          <p:cNvSpPr/>
          <p:nvPr/>
        </p:nvSpPr>
        <p:spPr>
          <a:xfrm>
            <a:off x="605805" y="2108326"/>
            <a:ext cx="4877434" cy="466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3300" kern="0" spc="0" dirty="0">
                <a:solidFill>
                  <a:srgbClr val="4B698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课堂讨论 </a:t>
            </a:r>
            <a:r>
              <a:rPr sz="3300" b="1" kern="0" spc="0" dirty="0">
                <a:solidFill>
                  <a:srgbClr val="4B6981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 </a:t>
            </a:r>
            <a:r>
              <a:rPr sz="3300" kern="0" spc="0" dirty="0">
                <a:solidFill>
                  <a:srgbClr val="4B698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你的选择焦虑</a:t>
            </a:r>
            <a:endParaRPr sz="3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4" name="textbox 194"/>
          <p:cNvSpPr/>
          <p:nvPr/>
        </p:nvSpPr>
        <p:spPr>
          <a:xfrm>
            <a:off x="3787318" y="3392677"/>
            <a:ext cx="2588260" cy="606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2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5080" algn="l" rtl="0" eaLnBrk="0">
              <a:lnSpc>
                <a:spcPct val="97000"/>
              </a:lnSpc>
              <a:tabLst/>
            </a:pPr>
            <a:r>
              <a:rPr sz="2000" kern="0" spc="-20" dirty="0">
                <a:solidFill>
                  <a:srgbClr val="4B698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面对两个极端</a:t>
            </a:r>
            <a:r>
              <a:rPr sz="2000" kern="0" spc="-280" dirty="0">
                <a:solidFill>
                  <a:srgbClr val="4B698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20" dirty="0">
                <a:solidFill>
                  <a:srgbClr val="4B698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，你会如</a:t>
            </a:r>
            <a:r>
              <a:rPr sz="2000" kern="0" spc="10" dirty="0">
                <a:solidFill>
                  <a:srgbClr val="4B698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何做出更好的决策？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96" name="picture 196">
            <a:hlinkClick r:id="rId8" action="ppaction://hlinkfile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630733" y="8616471"/>
            <a:ext cx="1653526" cy="320488"/>
          </a:xfrm>
          <a:prstGeom prst="rect">
            <a:avLst/>
          </a:prstGeom>
        </p:spPr>
      </p:pic>
      <p:sp>
        <p:nvSpPr>
          <p:cNvPr id="198" name="textbox 198"/>
          <p:cNvSpPr/>
          <p:nvPr/>
        </p:nvSpPr>
        <p:spPr>
          <a:xfrm>
            <a:off x="3790949" y="3041142"/>
            <a:ext cx="800734" cy="266700"/>
          </a:xfrm>
          <a:prstGeom prst="rect">
            <a:avLst/>
          </a:prstGeom>
          <a:solidFill>
            <a:srgbClr val="EEDDD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9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4145" algn="l" rtl="0" eaLnBrk="0">
              <a:lnSpc>
                <a:spcPts val="1410"/>
              </a:lnSpc>
              <a:tabLst/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Segoe UI Symbol"/>
                <a:ea typeface="Segoe UI Symbol"/>
                <a:cs typeface="Segoe UI Symbol"/>
              </a:rPr>
              <a:t>❓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Segoe UI Symbol"/>
                <a:ea typeface="Segoe UI Symbol"/>
                <a:cs typeface="Segoe UI Symbol"/>
              </a:rPr>
              <a:t>  </a:t>
            </a:r>
            <a:r>
              <a:rPr sz="1000" kern="0" spc="2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问题</a:t>
            </a:r>
            <a:r>
              <a:rPr sz="1000" kern="0" spc="2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200" name="textbox 200"/>
          <p:cNvSpPr/>
          <p:nvPr/>
        </p:nvSpPr>
        <p:spPr>
          <a:xfrm>
            <a:off x="600075" y="3041142"/>
            <a:ext cx="771525" cy="266700"/>
          </a:xfrm>
          <a:prstGeom prst="rect">
            <a:avLst/>
          </a:prstGeom>
          <a:solidFill>
            <a:srgbClr val="EEDDDD">
              <a:alpha val="98431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44145" algn="l" rtl="0" eaLnBrk="0">
              <a:lnSpc>
                <a:spcPts val="1264"/>
              </a:lnSpc>
              <a:spcBef>
                <a:spcPts val="1"/>
              </a:spcBef>
              <a:tabLst/>
            </a:pPr>
            <a:r>
              <a:rPr sz="1000" kern="0" spc="-60" dirty="0">
                <a:solidFill>
                  <a:srgbClr val="000000">
                    <a:alpha val="100000"/>
                  </a:srgbClr>
                </a:solidFill>
                <a:latin typeface="Segoe UI Symbol"/>
                <a:ea typeface="Segoe UI Symbol"/>
                <a:cs typeface="Segoe UI Symbol"/>
              </a:rPr>
              <a:t>❓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Segoe UI Symbol"/>
                <a:ea typeface="Segoe UI Symbol"/>
                <a:cs typeface="Segoe UI Symbol"/>
              </a:rPr>
              <a:t>  </a:t>
            </a:r>
            <a:r>
              <a:rPr sz="1000" kern="0" spc="-6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问题 </a:t>
            </a:r>
            <a:r>
              <a:rPr sz="1000" kern="0" spc="-60" dirty="0">
                <a:solidFill>
                  <a:srgbClr val="6F655D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202" name="path 202"/>
          <p:cNvSpPr/>
          <p:nvPr/>
        </p:nvSpPr>
        <p:spPr>
          <a:xfrm>
            <a:off x="3790950" y="5479541"/>
            <a:ext cx="69532" cy="1095375"/>
          </a:xfrm>
          <a:custGeom>
            <a:avLst/>
            <a:gdLst/>
            <a:ahLst/>
            <a:cxnLst/>
            <a:rect l="0" t="0" r="0" b="0"/>
            <a:pathLst>
              <a:path w="109" h="1725">
                <a:moveTo>
                  <a:pt x="15" y="1630"/>
                </a:moveTo>
                <a:lnTo>
                  <a:pt x="15" y="94"/>
                </a:lnTo>
                <a:cubicBezTo>
                  <a:pt x="15" y="89"/>
                  <a:pt x="15" y="84"/>
                  <a:pt x="16" y="78"/>
                </a:cubicBezTo>
                <a:cubicBezTo>
                  <a:pt x="17" y="73"/>
                  <a:pt x="19" y="68"/>
                  <a:pt x="21" y="64"/>
                </a:cubicBezTo>
                <a:cubicBezTo>
                  <a:pt x="23" y="59"/>
                  <a:pt x="25" y="54"/>
                  <a:pt x="28" y="50"/>
                </a:cubicBezTo>
                <a:cubicBezTo>
                  <a:pt x="31" y="45"/>
                  <a:pt x="34" y="41"/>
                  <a:pt x="38" y="38"/>
                </a:cubicBezTo>
                <a:cubicBezTo>
                  <a:pt x="41" y="34"/>
                  <a:pt x="45" y="31"/>
                  <a:pt x="50" y="28"/>
                </a:cubicBezTo>
                <a:cubicBezTo>
                  <a:pt x="54" y="25"/>
                  <a:pt x="59" y="23"/>
                  <a:pt x="64" y="21"/>
                </a:cubicBezTo>
                <a:cubicBezTo>
                  <a:pt x="68" y="19"/>
                  <a:pt x="73" y="17"/>
                  <a:pt x="78" y="16"/>
                </a:cubicBezTo>
                <a:cubicBezTo>
                  <a:pt x="84" y="15"/>
                  <a:pt x="89" y="15"/>
                  <a:pt x="94" y="15"/>
                </a:cubicBezTo>
                <a:moveTo>
                  <a:pt x="94" y="1710"/>
                </a:moveTo>
                <a:cubicBezTo>
                  <a:pt x="89" y="1710"/>
                  <a:pt x="84" y="1709"/>
                  <a:pt x="78" y="1708"/>
                </a:cubicBezTo>
                <a:cubicBezTo>
                  <a:pt x="73" y="1707"/>
                  <a:pt x="68" y="1705"/>
                  <a:pt x="64" y="1703"/>
                </a:cubicBezTo>
                <a:cubicBezTo>
                  <a:pt x="59" y="1701"/>
                  <a:pt x="54" y="1699"/>
                  <a:pt x="50" y="1696"/>
                </a:cubicBezTo>
                <a:cubicBezTo>
                  <a:pt x="45" y="1693"/>
                  <a:pt x="41" y="1690"/>
                  <a:pt x="38" y="1686"/>
                </a:cubicBezTo>
                <a:cubicBezTo>
                  <a:pt x="34" y="1683"/>
                  <a:pt x="31" y="1679"/>
                  <a:pt x="28" y="1674"/>
                </a:cubicBezTo>
                <a:cubicBezTo>
                  <a:pt x="25" y="1670"/>
                  <a:pt x="23" y="1665"/>
                  <a:pt x="21" y="1660"/>
                </a:cubicBezTo>
                <a:cubicBezTo>
                  <a:pt x="19" y="1656"/>
                  <a:pt x="17" y="1651"/>
                  <a:pt x="16" y="1646"/>
                </a:cubicBezTo>
                <a:cubicBezTo>
                  <a:pt x="15" y="1640"/>
                  <a:pt x="15" y="1635"/>
                  <a:pt x="15" y="1630"/>
                </a:cubicBezTo>
              </a:path>
            </a:pathLst>
          </a:custGeom>
          <a:noFill/>
          <a:ln w="19050" cap="flat">
            <a:solidFill>
              <a:srgbClr val="B2AAD2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4" name="path 204"/>
          <p:cNvSpPr/>
          <p:nvPr/>
        </p:nvSpPr>
        <p:spPr>
          <a:xfrm>
            <a:off x="3805735" y="5274255"/>
            <a:ext cx="54746" cy="33836"/>
          </a:xfrm>
          <a:custGeom>
            <a:avLst/>
            <a:gdLst/>
            <a:ahLst/>
            <a:cxnLst/>
            <a:rect l="0" t="0" r="0" b="0"/>
            <a:pathLst>
              <a:path w="86" h="53">
                <a:moveTo>
                  <a:pt x="71" y="38"/>
                </a:moveTo>
                <a:cubicBezTo>
                  <a:pt x="65" y="38"/>
                  <a:pt x="60" y="37"/>
                  <a:pt x="55" y="36"/>
                </a:cubicBezTo>
                <a:cubicBezTo>
                  <a:pt x="50" y="35"/>
                  <a:pt x="45" y="34"/>
                  <a:pt x="40" y="32"/>
                </a:cubicBezTo>
                <a:cubicBezTo>
                  <a:pt x="35" y="30"/>
                  <a:pt x="31" y="27"/>
                  <a:pt x="27" y="24"/>
                </a:cubicBezTo>
                <a:cubicBezTo>
                  <a:pt x="22" y="21"/>
                  <a:pt x="18" y="18"/>
                  <a:pt x="15" y="15"/>
                </a:cubicBezTo>
              </a:path>
            </a:pathLst>
          </a:custGeom>
          <a:noFill/>
          <a:ln w="19050" cap="flat">
            <a:solidFill>
              <a:srgbClr val="C7A8A8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6" name="path 206"/>
          <p:cNvSpPr/>
          <p:nvPr/>
        </p:nvSpPr>
        <p:spPr>
          <a:xfrm>
            <a:off x="3805735" y="4212716"/>
            <a:ext cx="54746" cy="33835"/>
          </a:xfrm>
          <a:custGeom>
            <a:avLst/>
            <a:gdLst/>
            <a:ahLst/>
            <a:cxnLst/>
            <a:rect l="0" t="0" r="0" b="0"/>
            <a:pathLst>
              <a:path w="86" h="53">
                <a:moveTo>
                  <a:pt x="15" y="38"/>
                </a:moveTo>
                <a:cubicBezTo>
                  <a:pt x="18" y="34"/>
                  <a:pt x="22" y="31"/>
                  <a:pt x="27" y="28"/>
                </a:cubicBezTo>
                <a:cubicBezTo>
                  <a:pt x="31" y="25"/>
                  <a:pt x="35" y="23"/>
                  <a:pt x="40" y="21"/>
                </a:cubicBezTo>
                <a:cubicBezTo>
                  <a:pt x="45" y="19"/>
                  <a:pt x="50" y="17"/>
                  <a:pt x="55" y="16"/>
                </a:cubicBezTo>
                <a:cubicBezTo>
                  <a:pt x="60" y="15"/>
                  <a:pt x="65" y="15"/>
                  <a:pt x="71" y="15"/>
                </a:cubicBezTo>
              </a:path>
            </a:pathLst>
          </a:custGeom>
          <a:noFill/>
          <a:ln w="19050" cap="flat">
            <a:solidFill>
              <a:srgbClr val="C7A8A8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picture 2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333875" y="3298317"/>
            <a:ext cx="6505575" cy="3686174"/>
          </a:xfrm>
          <a:prstGeom prst="rect">
            <a:avLst/>
          </a:prstGeom>
        </p:spPr>
      </p:pic>
      <p:sp>
        <p:nvSpPr>
          <p:cNvPr id="210" name="rect 210"/>
          <p:cNvSpPr/>
          <p:nvPr/>
        </p:nvSpPr>
        <p:spPr>
          <a:xfrm>
            <a:off x="600075" y="2955417"/>
            <a:ext cx="962025" cy="276225"/>
          </a:xfrm>
          <a:prstGeom prst="rect">
            <a:avLst/>
          </a:prstGeom>
          <a:solidFill>
            <a:srgbClr val="EEDDD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2" name="textbox 212"/>
          <p:cNvSpPr/>
          <p:nvPr/>
        </p:nvSpPr>
        <p:spPr>
          <a:xfrm>
            <a:off x="587375" y="2032126"/>
            <a:ext cx="3197225" cy="33953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3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115" algn="l" rtl="0" eaLnBrk="0">
              <a:lnSpc>
                <a:spcPct val="88000"/>
              </a:lnSpc>
              <a:tabLst/>
            </a:pPr>
            <a:r>
              <a:rPr sz="3300" kern="0" spc="50" dirty="0">
                <a:solidFill>
                  <a:srgbClr val="4B698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总结与延伸思考</a:t>
            </a:r>
            <a:endParaRPr sz="3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64"/>
              </a:lnSpc>
              <a:spcBef>
                <a:spcPts val="308"/>
              </a:spcBef>
              <a:tabLst>
                <a:tab pos="15240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曾</a:t>
            </a:r>
            <a:r>
              <a:rPr sz="1000" kern="0" spc="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-1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核心收获   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8425" algn="l" rtl="0" eaLnBrk="0">
              <a:lnSpc>
                <a:spcPct val="89000"/>
              </a:lnSpc>
              <a:spcBef>
                <a:spcPts val="398"/>
              </a:spcBef>
              <a:tabLst>
                <a:tab pos="277495" algn="l"/>
              </a:tabLst>
            </a:pP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选择焦虑是大一新生的普遍现象</a:t>
            </a:r>
            <a:r>
              <a:rPr sz="1300" kern="0" spc="-1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，既不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marL="278765" algn="l" rtl="0" eaLnBrk="0">
              <a:lnSpc>
                <a:spcPts val="2153"/>
              </a:lnSpc>
              <a:tabLst/>
            </a:pP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要过度分析</a:t>
            </a:r>
            <a:r>
              <a:rPr sz="1300" kern="0" spc="-21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，也不要仓促决</a:t>
            </a:r>
            <a:r>
              <a:rPr sz="1300" kern="0" spc="2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策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8425" algn="l" rtl="0" eaLnBrk="0">
              <a:lnSpc>
                <a:spcPct val="89000"/>
              </a:lnSpc>
              <a:spcBef>
                <a:spcPts val="398"/>
              </a:spcBef>
              <a:tabLst>
                <a:tab pos="274320" algn="l"/>
              </a:tabLst>
            </a:pP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300" kern="0" spc="5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好的决策需要思考与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行动的平衡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8425" algn="l" rtl="0" eaLnBrk="0">
              <a:lnSpc>
                <a:spcPct val="89000"/>
              </a:lnSpc>
              <a:spcBef>
                <a:spcPts val="391"/>
              </a:spcBef>
              <a:tabLst>
                <a:tab pos="274954" algn="l"/>
              </a:tabLst>
            </a:pP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焦虑本身是正常的</a:t>
            </a:r>
            <a:r>
              <a:rPr sz="1300" kern="0" spc="-21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，关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键是学会管理和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marL="275590" algn="l" rtl="0" eaLnBrk="0">
              <a:lnSpc>
                <a:spcPts val="2153"/>
              </a:lnSpc>
              <a:tabLst/>
            </a:pPr>
            <a:r>
              <a:rPr sz="1300" kern="0" spc="2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应对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14" name="picture 2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00075" y="5022341"/>
            <a:ext cx="85725" cy="85725"/>
          </a:xfrm>
          <a:prstGeom prst="rect">
            <a:avLst/>
          </a:prstGeom>
        </p:spPr>
      </p:pic>
      <p:pic>
        <p:nvPicPr>
          <p:cNvPr id="216" name="picture 2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00075" y="4403216"/>
            <a:ext cx="85725" cy="85725"/>
          </a:xfrm>
          <a:prstGeom prst="rect">
            <a:avLst/>
          </a:prstGeom>
        </p:spPr>
      </p:pic>
      <p:pic>
        <p:nvPicPr>
          <p:cNvPr id="218" name="picture 2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00075" y="3517392"/>
            <a:ext cx="85725" cy="85725"/>
          </a:xfrm>
          <a:prstGeom prst="rect">
            <a:avLst/>
          </a:prstGeom>
        </p:spPr>
      </p:pic>
      <p:sp>
        <p:nvSpPr>
          <p:cNvPr id="220" name="textbox 220"/>
          <p:cNvSpPr/>
          <p:nvPr/>
        </p:nvSpPr>
        <p:spPr>
          <a:xfrm>
            <a:off x="587375" y="6458965"/>
            <a:ext cx="3282950" cy="1978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4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8425" algn="l" rtl="0" eaLnBrk="0">
              <a:lnSpc>
                <a:spcPct val="87000"/>
              </a:lnSpc>
              <a:tabLst>
                <a:tab pos="279400" algn="l"/>
              </a:tabLst>
            </a:pP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掌握关键词汇和短语搭配</a:t>
            </a:r>
            <a:r>
              <a:rPr sz="1300" kern="0" spc="-1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，理解段落逻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marL="276225" algn="l" rtl="0" eaLnBrk="0">
              <a:lnSpc>
                <a:spcPts val="2175"/>
              </a:lnSpc>
              <a:tabLst/>
            </a:pPr>
            <a:r>
              <a:rPr sz="1300" kern="0" spc="-1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辑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8425" algn="l" rtl="0" eaLnBrk="0">
              <a:lnSpc>
                <a:spcPct val="87000"/>
              </a:lnSpc>
              <a:spcBef>
                <a:spcPts val="394"/>
              </a:spcBef>
              <a:tabLst>
                <a:tab pos="276225" algn="l"/>
              </a:tabLst>
            </a:pP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通过讨论</a:t>
            </a:r>
            <a:r>
              <a:rPr sz="1300" kern="0" spc="-18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，反思自己的决策方式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8425" algn="l" rtl="0" eaLnBrk="0">
              <a:lnSpc>
                <a:spcPct val="87000"/>
              </a:lnSpc>
              <a:spcBef>
                <a:spcPts val="400"/>
              </a:spcBef>
              <a:tabLst>
                <a:tab pos="280034" algn="l"/>
              </a:tabLst>
            </a:pPr>
            <a:r>
              <a:rPr sz="1300" kern="0" spc="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学会识别修辞手法（排比、拟人化</a:t>
            </a:r>
            <a:r>
              <a:rPr sz="1300" kern="0" spc="-26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），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理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marL="274954" algn="l" rtl="0" eaLnBrk="0">
              <a:lnSpc>
                <a:spcPts val="2175"/>
              </a:lnSpc>
              <a:tabLst/>
            </a:pP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解作者的表达意图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2" name="picture 2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00075" y="8032241"/>
            <a:ext cx="85725" cy="85725"/>
          </a:xfrm>
          <a:prstGeom prst="rect">
            <a:avLst/>
          </a:prstGeom>
        </p:spPr>
      </p:pic>
      <p:pic>
        <p:nvPicPr>
          <p:cNvPr id="224" name="picture 2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00075" y="7413116"/>
            <a:ext cx="85725" cy="85725"/>
          </a:xfrm>
          <a:prstGeom prst="rect">
            <a:avLst/>
          </a:prstGeom>
        </p:spPr>
      </p:pic>
      <p:pic>
        <p:nvPicPr>
          <p:cNvPr id="226" name="picture 2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00075" y="6527291"/>
            <a:ext cx="85725" cy="85725"/>
          </a:xfrm>
          <a:prstGeom prst="rect">
            <a:avLst/>
          </a:prstGeom>
        </p:spPr>
      </p:pic>
      <p:sp>
        <p:nvSpPr>
          <p:cNvPr id="228" name="textbox 228"/>
          <p:cNvSpPr/>
          <p:nvPr/>
        </p:nvSpPr>
        <p:spPr>
          <a:xfrm>
            <a:off x="4329877" y="7668640"/>
            <a:ext cx="6363334" cy="473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4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300" kern="0" spc="5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这段话对你的高中生活或未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来大学生活有什么启⽰？你现在面临的选择中</a:t>
            </a:r>
            <a:r>
              <a:rPr sz="1300" kern="0" spc="-21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4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，有没有陷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marL="13334" algn="l" rtl="0" eaLnBrk="0">
              <a:lnSpc>
                <a:spcPts val="2175"/>
              </a:lnSpc>
              <a:tabLst/>
            </a:pPr>
            <a:r>
              <a:rPr sz="1300" kern="0" spc="-7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⼊</a:t>
            </a:r>
            <a:r>
              <a:rPr sz="1300" kern="0" spc="-25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-70" dirty="0">
                <a:solidFill>
                  <a:srgbClr val="FF6B35">
                    <a:alpha val="100000"/>
                  </a:srgbClr>
                </a:solidFill>
                <a:latin typeface="Arial"/>
                <a:ea typeface="Arial"/>
                <a:cs typeface="Arial"/>
              </a:rPr>
              <a:t>Π</a:t>
            </a:r>
            <a:r>
              <a:rPr sz="1300" kern="0" spc="-70" dirty="0">
                <a:solidFill>
                  <a:srgbClr val="FF6B3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分析瘫痪</a:t>
            </a:r>
            <a:r>
              <a:rPr sz="1300" kern="0" spc="-70" dirty="0">
                <a:solidFill>
                  <a:srgbClr val="FF6B35">
                    <a:alpha val="100000"/>
                  </a:srgbClr>
                </a:solidFill>
                <a:latin typeface="Arial"/>
                <a:ea typeface="Arial"/>
                <a:cs typeface="Arial"/>
              </a:rPr>
              <a:t>Π</a:t>
            </a:r>
            <a:r>
              <a:rPr sz="1300" kern="0" spc="-280" dirty="0">
                <a:solidFill>
                  <a:srgbClr val="FF6B35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7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或</a:t>
            </a:r>
            <a:r>
              <a:rPr sz="1300" kern="0" spc="-29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-70" dirty="0">
                <a:solidFill>
                  <a:srgbClr val="004E89">
                    <a:alpha val="100000"/>
                  </a:srgbClr>
                </a:solidFill>
                <a:latin typeface="Arial"/>
                <a:ea typeface="Arial"/>
                <a:cs typeface="Arial"/>
              </a:rPr>
              <a:t>Π</a:t>
            </a:r>
            <a:r>
              <a:rPr sz="1300" kern="0" spc="-70" dirty="0">
                <a:solidFill>
                  <a:srgbClr val="004E8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冲动决</a:t>
            </a:r>
            <a:r>
              <a:rPr sz="1300" kern="0" spc="-80" dirty="0">
                <a:solidFill>
                  <a:srgbClr val="004E8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策</a:t>
            </a:r>
            <a:r>
              <a:rPr sz="1300" kern="0" spc="-80" dirty="0">
                <a:solidFill>
                  <a:srgbClr val="004E89">
                    <a:alpha val="100000"/>
                  </a:srgbClr>
                </a:solidFill>
                <a:latin typeface="Arial"/>
                <a:ea typeface="Arial"/>
                <a:cs typeface="Arial"/>
              </a:rPr>
              <a:t>Π</a:t>
            </a:r>
            <a:r>
              <a:rPr sz="1300" kern="0" spc="-250" dirty="0">
                <a:solidFill>
                  <a:srgbClr val="004E8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8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的情况？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30" name="picture 230">
            <a:hlinkClick r:id="rId10" action="ppaction://hlinkfile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630733" y="8692671"/>
            <a:ext cx="1653526" cy="320488"/>
          </a:xfrm>
          <a:prstGeom prst="rect">
            <a:avLst/>
          </a:prstGeom>
        </p:spPr>
      </p:pic>
      <p:graphicFrame>
        <p:nvGraphicFramePr>
          <p:cNvPr id="232" name="table 232"/>
          <p:cNvGraphicFramePr>
            <a:graphicFrameLocks noGrp="1"/>
          </p:cNvGraphicFramePr>
          <p:nvPr/>
        </p:nvGraphicFramePr>
        <p:xfrm>
          <a:off x="600075" y="5965316"/>
          <a:ext cx="962025" cy="276225"/>
        </p:xfrm>
        <a:graphic>
          <a:graphicData uri="http://schemas.openxmlformats.org/drawingml/2006/table">
            <a:tbl>
              <a:tblPr/>
              <a:tblGrid>
                <a:gridCol w="962025"/>
              </a:tblGrid>
              <a:tr h="263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1125" algn="l" rtl="0" eaLnBrk="0">
                        <a:lnSpc>
                          <a:spcPct val="9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酯 </a:t>
                      </a:r>
                      <a:r>
                        <a:rPr sz="1000" kern="0" spc="90" dirty="0">
                          <a:solidFill>
                            <a:srgbClr val="E1C2C2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学习建议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1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4" name="textbox 234"/>
          <p:cNvSpPr/>
          <p:nvPr/>
        </p:nvSpPr>
        <p:spPr>
          <a:xfrm>
            <a:off x="4333874" y="7174991"/>
            <a:ext cx="962660" cy="266700"/>
          </a:xfrm>
          <a:prstGeom prst="rect">
            <a:avLst/>
          </a:prstGeom>
          <a:solidFill>
            <a:srgbClr val="EEDDD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4935" algn="l" rtl="0" eaLnBrk="0">
              <a:lnSpc>
                <a:spcPts val="1271"/>
              </a:lnSpc>
              <a:spcBef>
                <a:spcPts val="3"/>
              </a:spcBef>
              <a:tabLst/>
            </a:pP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崋 </a:t>
            </a:r>
            <a:r>
              <a:rPr sz="1000" kern="0" spc="80" dirty="0">
                <a:solidFill>
                  <a:srgbClr val="6F655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延伸思考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36" name="picture 23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00075" y="5717666"/>
            <a:ext cx="3305175" cy="19050"/>
          </a:xfrm>
          <a:prstGeom prst="rect">
            <a:avLst/>
          </a:prstGeom>
        </p:spPr>
      </p:pic>
      <p:sp>
        <p:nvSpPr>
          <p:cNvPr id="238" name="path 238"/>
          <p:cNvSpPr/>
          <p:nvPr/>
        </p:nvSpPr>
        <p:spPr>
          <a:xfrm>
            <a:off x="1525879" y="6205321"/>
            <a:ext cx="32928" cy="32928"/>
          </a:xfrm>
          <a:custGeom>
            <a:avLst/>
            <a:gdLst/>
            <a:ahLst/>
            <a:cxnLst/>
            <a:rect l="0" t="0" r="0" b="0"/>
            <a:pathLst>
              <a:path w="51" h="51">
                <a:moveTo>
                  <a:pt x="44" y="7"/>
                </a:moveTo>
                <a:cubicBezTo>
                  <a:pt x="40" y="15"/>
                  <a:pt x="35" y="23"/>
                  <a:pt x="29" y="29"/>
                </a:cubicBezTo>
                <a:cubicBezTo>
                  <a:pt x="23" y="35"/>
                  <a:pt x="15" y="40"/>
                  <a:pt x="7" y="44"/>
                </a:cubicBezTo>
              </a:path>
            </a:pathLst>
          </a:custGeom>
          <a:noFill/>
          <a:ln w="9525" cap="flat">
            <a:solidFill>
              <a:srgbClr val="E1C2C2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pdf-lib (https://github.com/Hopding/pdf-lib)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2026-09-06T04:23:52Z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2026-09-08T20:48:10</vt:filetime>
  </property>
</Properties>
</file>