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3" Type="http://schemas.openxmlformats.org/officeDocument/2006/relationships/viewProps" Target="viewProps.xml"/><Relationship Id="rId12" Type="http://schemas.openxmlformats.org/officeDocument/2006/relationships/tableStyles" Target="tableStyles.xml"/><Relationship Id="rId11" Type="http://schemas.openxmlformats.org/officeDocument/2006/relationships/presProps" Target="presProps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.jpeg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jpeg"/><Relationship Id="rId7" Type="http://schemas.openxmlformats.org/officeDocument/2006/relationships/image" Target="../media/image24.jpeg"/><Relationship Id="rId6" Type="http://schemas.openxmlformats.org/officeDocument/2006/relationships/image" Target="../media/image23.jpe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7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660654" y="2561400"/>
            <a:ext cx="3357879" cy="165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3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3700" kern="0" spc="27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3700" kern="0" spc="-9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700" kern="0" spc="27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Weight of</a:t>
            </a:r>
            <a:endParaRPr sz="37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88000"/>
              </a:lnSpc>
              <a:spcBef>
                <a:spcPts val="25"/>
              </a:spcBef>
              <a:tabLst/>
            </a:pPr>
            <a:r>
              <a:rPr sz="3700" kern="0" spc="29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Choices</a:t>
            </a:r>
            <a:endParaRPr sz="3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9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Paragraph 3 · </a:t>
            </a:r>
            <a:r>
              <a:rPr sz="1400" kern="0" spc="-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精读展⽰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57224" y="2114550"/>
            <a:ext cx="1914525" cy="285750"/>
          </a:xfrm>
          <a:prstGeom prst="rect">
            <a:avLst/>
          </a:prstGeom>
          <a:solidFill>
            <a:srgbClr val="00184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3825" algn="l" rtl="0" eaLnBrk="0">
              <a:lnSpc>
                <a:spcPts val="1333"/>
              </a:lnSpc>
              <a:spcBef>
                <a:spcPts val="4"/>
              </a:spcBef>
              <a:tabLst/>
            </a:pPr>
            <a:r>
              <a:rPr sz="11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大学英语阅读 </a:t>
            </a:r>
            <a:r>
              <a:rPr sz="11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·</a:t>
            </a:r>
            <a:r>
              <a:rPr sz="11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1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READING</a:t>
            </a:r>
            <a:endParaRPr sz="1100" dirty="0">
              <a:latin typeface="Lucida Sans Unicode"/>
              <a:ea typeface="Lucida Sans Unicode"/>
              <a:cs typeface="Lucida Sans Unicode"/>
            </a:endParaRP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57225" y="4457700"/>
          <a:ext cx="876300" cy="285750"/>
        </p:xfrm>
        <a:graphic>
          <a:graphicData uri="http://schemas.openxmlformats.org/drawingml/2006/table">
            <a:tbl>
              <a:tblPr/>
              <a:tblGrid>
                <a:gridCol w="876300"/>
              </a:tblGrid>
              <a:tr h="276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97B8FF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GROUP 3</a:t>
                      </a:r>
                      <a:endParaRPr sz="11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7B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628775" y="4457700"/>
          <a:ext cx="657225" cy="285750"/>
        </p:xfrm>
        <a:graphic>
          <a:graphicData uri="http://schemas.openxmlformats.org/drawingml/2006/table">
            <a:tbl>
              <a:tblPr/>
              <a:tblGrid>
                <a:gridCol w="657225"/>
              </a:tblGrid>
              <a:tr h="276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095" algn="l" rtl="0" eaLnBrk="0">
                        <a:lnSpc>
                          <a:spcPct val="7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90" dirty="0">
                          <a:solidFill>
                            <a:srgbClr val="97B8FF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6</a:t>
                      </a:r>
                      <a:r>
                        <a:rPr sz="1100" kern="0" spc="70" dirty="0">
                          <a:solidFill>
                            <a:srgbClr val="97B8FF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97B8FF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MIN</a:t>
                      </a:r>
                      <a:endParaRPr sz="11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7B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rect 16"/>
          <p:cNvSpPr/>
          <p:nvPr/>
        </p:nvSpPr>
        <p:spPr>
          <a:xfrm>
            <a:off x="2743199" y="2762250"/>
            <a:ext cx="876300" cy="257175"/>
          </a:xfrm>
          <a:prstGeom prst="rect">
            <a:avLst/>
          </a:prstGeom>
          <a:solidFill>
            <a:srgbClr val="FCE8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rect 18"/>
          <p:cNvSpPr/>
          <p:nvPr/>
        </p:nvSpPr>
        <p:spPr>
          <a:xfrm>
            <a:off x="6448425" y="2762250"/>
            <a:ext cx="542925" cy="257175"/>
          </a:xfrm>
          <a:prstGeom prst="rect">
            <a:avLst/>
          </a:prstGeom>
          <a:solidFill>
            <a:srgbClr val="FCE8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rect 20"/>
          <p:cNvSpPr/>
          <p:nvPr/>
        </p:nvSpPr>
        <p:spPr>
          <a:xfrm>
            <a:off x="3333749" y="3971925"/>
            <a:ext cx="1095375" cy="257175"/>
          </a:xfrm>
          <a:prstGeom prst="rect">
            <a:avLst/>
          </a:prstGeom>
          <a:solidFill>
            <a:srgbClr val="FCE8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" name="rect 22"/>
          <p:cNvSpPr/>
          <p:nvPr/>
        </p:nvSpPr>
        <p:spPr>
          <a:xfrm>
            <a:off x="933449" y="3371850"/>
            <a:ext cx="1381125" cy="257175"/>
          </a:xfrm>
          <a:prstGeom prst="rect">
            <a:avLst/>
          </a:prstGeom>
          <a:solidFill>
            <a:srgbClr val="FCE8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" name="rect 24"/>
          <p:cNvSpPr/>
          <p:nvPr/>
        </p:nvSpPr>
        <p:spPr>
          <a:xfrm>
            <a:off x="2628899" y="3676650"/>
            <a:ext cx="1905000" cy="257175"/>
          </a:xfrm>
          <a:prstGeom prst="rect">
            <a:avLst/>
          </a:prstGeom>
          <a:solidFill>
            <a:srgbClr val="FCE8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" name="textbox 26"/>
          <p:cNvSpPr/>
          <p:nvPr/>
        </p:nvSpPr>
        <p:spPr>
          <a:xfrm>
            <a:off x="935760" y="2780252"/>
            <a:ext cx="10486390" cy="1760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90"/>
              </a:lnSpc>
              <a:tabLst/>
            </a:pP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①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Perhaps the most 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daunting</a:t>
            </a:r>
            <a:r>
              <a:rPr sz="1400" b="1" kern="0" spc="17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kern="0" spc="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challenge for a freshman is the 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sheer</a:t>
            </a:r>
            <a:r>
              <a:rPr sz="1400" b="1" kern="0" spc="23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kern="0" spc="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number of choices that lie ahead. </a:t>
            </a:r>
            <a:r>
              <a:rPr sz="1400" kern="0" spc="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②</a:t>
            </a:r>
            <a:r>
              <a:rPr sz="1400" kern="0" spc="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Choosing a</a:t>
            </a:r>
            <a:endParaRPr sz="1400" dirty="0">
              <a:latin typeface="Lucida Sans Unicode"/>
              <a:ea typeface="Lucida Sans Unicode"/>
              <a:cs typeface="Lucida Sans Unicode"/>
            </a:endParaRPr>
          </a:p>
          <a:p>
            <a:pPr marL="22859" indent="1905" algn="l" rtl="0" eaLnBrk="0">
              <a:lnSpc>
                <a:spcPct val="143000"/>
              </a:lnSpc>
              <a:spcBef>
                <a:spcPts val="14"/>
              </a:spcBef>
              <a:tabLst/>
            </a:pP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major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,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deciding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on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minors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,</a:t>
            </a:r>
            <a:r>
              <a:rPr sz="1400" kern="0" spc="-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joining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clubs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,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applying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for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internships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,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and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even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picking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career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path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—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all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these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decisions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press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down</a:t>
            </a:r>
            <a:r>
              <a:rPr sz="1400" b="1" kern="0" spc="17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on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an</a:t>
            </a:r>
            <a:r>
              <a:rPr sz="1400" kern="0" spc="1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18-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year</a:t>
            </a:r>
            <a:r>
              <a:rPr sz="1400" kern="0" spc="1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-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old</a:t>
            </a:r>
            <a:r>
              <a:rPr sz="1400" kern="0" spc="1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who</a:t>
            </a:r>
            <a:r>
              <a:rPr sz="1400" kern="0" spc="1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,</a:t>
            </a:r>
            <a:r>
              <a:rPr sz="1400" kern="0" spc="-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just</a:t>
            </a:r>
            <a:r>
              <a:rPr sz="1400" kern="0" spc="1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</a:t>
            </a:r>
            <a:r>
              <a:rPr sz="1400" kern="0" spc="1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year</a:t>
            </a:r>
            <a:r>
              <a:rPr sz="1400" kern="0" spc="1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ago</a:t>
            </a:r>
            <a:r>
              <a:rPr sz="1400" kern="0" spc="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,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was</a:t>
            </a:r>
            <a:r>
              <a:rPr sz="1400" kern="0" spc="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mainly</a:t>
            </a:r>
            <a:r>
              <a:rPr sz="1400" kern="0" spc="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concerned</a:t>
            </a:r>
            <a:r>
              <a:rPr sz="1400" kern="0" spc="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with</a:t>
            </a:r>
            <a:r>
              <a:rPr sz="1400" kern="0" spc="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passing</a:t>
            </a:r>
            <a:r>
              <a:rPr sz="1400" kern="0" spc="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high</a:t>
            </a:r>
            <a:r>
              <a:rPr sz="1400" kern="0" spc="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school</a:t>
            </a:r>
            <a:r>
              <a:rPr sz="1400" kern="0" spc="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exams</a:t>
            </a:r>
            <a:r>
              <a:rPr sz="1400" kern="0" spc="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. </a:t>
            </a:r>
            <a:r>
              <a:rPr sz="1400" kern="0" spc="10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③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Many</a:t>
            </a:r>
            <a:endParaRPr sz="1400" dirty="0">
              <a:latin typeface="Lucida Sans Unicode"/>
              <a:ea typeface="Lucida Sans Unicode"/>
              <a:cs typeface="Lucida Sans Unicode"/>
            </a:endParaRPr>
          </a:p>
          <a:p>
            <a:pPr marL="18415" algn="l" rtl="0" eaLnBrk="0">
              <a:lnSpc>
                <a:spcPct val="90000"/>
              </a:lnSpc>
              <a:spcBef>
                <a:spcPts val="882"/>
              </a:spcBef>
              <a:tabLst/>
            </a:pP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students fall into a 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paralysis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of an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alysis</a:t>
            </a:r>
            <a:r>
              <a:rPr sz="1400" kern="0" spc="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, spending hours weighing pros and cons but never making a decision.</a:t>
            </a:r>
            <a:endParaRPr sz="1400" dirty="0">
              <a:latin typeface="Lucida Sans Unicode"/>
              <a:ea typeface="Lucida Sans Unicode"/>
              <a:cs typeface="Lucida Sans Unicode"/>
            </a:endParaRPr>
          </a:p>
          <a:p>
            <a:pPr marL="24765" indent="-12064" algn="l" rtl="0" eaLnBrk="0">
              <a:lnSpc>
                <a:spcPct val="136000"/>
              </a:lnSpc>
              <a:spcBef>
                <a:spcPts val="30"/>
              </a:spcBef>
              <a:tabLst/>
            </a:pP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④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Others</a:t>
            </a: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rush</a:t>
            </a: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into</a:t>
            </a: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choices</a:t>
            </a: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impulsively</a:t>
            </a: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,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only</a:t>
            </a: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to</a:t>
            </a: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regret</a:t>
            </a: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them</a:t>
            </a: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later</a:t>
            </a:r>
            <a:r>
              <a:rPr sz="1400" kern="0" spc="1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. </a:t>
            </a:r>
            <a:r>
              <a:rPr sz="1400" kern="0" spc="1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⑤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The</a:t>
            </a:r>
            <a:r>
              <a:rPr sz="1400" kern="0" spc="1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question</a:t>
            </a:r>
            <a:r>
              <a:rPr sz="1400" kern="0" spc="26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15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want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my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r>
              <a:rPr sz="1500" i="1" kern="0" spc="-20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i="1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15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becomes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constant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companion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,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whispering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in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moments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of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quiet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and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screaming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in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moments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of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panic</a:t>
            </a:r>
            <a:r>
              <a:rPr sz="1400" kern="0" spc="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.</a:t>
            </a:r>
            <a:endParaRPr sz="1400" dirty="0">
              <a:latin typeface="Lucida Sans Unicode"/>
              <a:ea typeface="Lucida Sans Unicode"/>
              <a:cs typeface="Lucida Sans Unicode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65379" y="1171669"/>
            <a:ext cx="5299075" cy="1125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3700" kern="0" spc="34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原文呈现 </a:t>
            </a:r>
            <a:r>
              <a:rPr sz="3700" kern="0" spc="34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37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Original</a:t>
            </a:r>
            <a:r>
              <a:rPr sz="3700" kern="0" spc="-6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7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</a:t>
            </a:r>
            <a:endParaRPr sz="3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Paragraph</a:t>
            </a:r>
            <a:r>
              <a:rPr sz="14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3 — </a:t>
            </a:r>
            <a:r>
              <a:rPr sz="14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①</a:t>
            </a:r>
            <a:r>
              <a:rPr sz="14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–</a:t>
            </a:r>
            <a:r>
              <a:rPr sz="14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⑤ 句编号</a:t>
            </a:r>
            <a:r>
              <a:rPr sz="1400" kern="0" spc="-2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，供</a:t>
            </a:r>
            <a:r>
              <a:rPr sz="14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后文引用。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4343399" y="4991100"/>
            <a:ext cx="3505834" cy="1085850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4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0660" algn="l" rtl="0" eaLnBrk="0">
              <a:lnSpc>
                <a:spcPct val="88000"/>
              </a:lnSpc>
              <a:tabLst/>
            </a:pPr>
            <a:r>
              <a:rPr sz="1800" kern="0" spc="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② 找出核心问句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10820" algn="l" rtl="0" eaLnBrk="0">
              <a:lnSpc>
                <a:spcPct val="89000"/>
              </a:lnSpc>
              <a:tabLst/>
            </a:pP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Find</a:t>
            </a:r>
            <a:r>
              <a:rPr sz="14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the</a:t>
            </a:r>
            <a:r>
              <a:rPr sz="14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core</a:t>
            </a:r>
            <a:r>
              <a:rPr sz="14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question</a:t>
            </a:r>
            <a:endParaRPr sz="1400" dirty="0">
              <a:latin typeface="Lucida Sans Unicode"/>
              <a:ea typeface="Lucida Sans Unicode"/>
              <a:cs typeface="Lucida Sans Unicode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57224" y="4991100"/>
            <a:ext cx="3505200" cy="1085850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1295" algn="l" rtl="0" eaLnBrk="0">
              <a:lnSpc>
                <a:spcPct val="87000"/>
              </a:lnSpc>
              <a:tabLst/>
            </a:pPr>
            <a:r>
              <a:rPr sz="18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① 划出生词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10184" algn="l" rtl="0" eaLnBrk="0">
              <a:lnSpc>
                <a:spcPct val="89000"/>
              </a:lnSpc>
              <a:spcBef>
                <a:spcPts val="2"/>
              </a:spcBef>
              <a:tabLst/>
            </a:pPr>
            <a:r>
              <a:rPr sz="1400" kern="0" spc="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Underline new words</a:t>
            </a:r>
            <a:endParaRPr sz="1400" dirty="0">
              <a:latin typeface="Lucida Sans Unicode"/>
              <a:ea typeface="Lucida Sans Unicode"/>
              <a:cs typeface="Lucida Sans Unicode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8029575" y="4991100"/>
            <a:ext cx="3505200" cy="1085850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066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800" kern="0" spc="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③ 找出两种反应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1929" algn="l" rtl="0" eaLnBrk="0">
              <a:lnSpc>
                <a:spcPct val="89000"/>
              </a:lnSpc>
              <a:spcBef>
                <a:spcPts val="3"/>
              </a:spcBef>
              <a:tabLst/>
            </a:pP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Spot</a:t>
            </a:r>
            <a:r>
              <a:rPr sz="1400" kern="0" spc="1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the</a:t>
            </a:r>
            <a:r>
              <a:rPr sz="1400" kern="0" spc="1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two</a:t>
            </a:r>
            <a:r>
              <a:rPr sz="1400" kern="0" spc="1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reactions</a:t>
            </a:r>
            <a:endParaRPr sz="1400" dirty="0">
              <a:latin typeface="Lucida Sans Unicode"/>
              <a:ea typeface="Lucida Sans Unicode"/>
              <a:cs typeface="Lucida Sans Unicode"/>
            </a:endParaRPr>
          </a:p>
        </p:txBody>
      </p:sp>
      <p:pic>
        <p:nvPicPr>
          <p:cNvPr id="36" name="picture 36">
            <a:hlinkClick r:id="rId3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392733" y="6392955"/>
            <a:ext cx="1653526" cy="320488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657224" y="781050"/>
            <a:ext cx="1181735" cy="285750"/>
          </a:xfrm>
          <a:prstGeom prst="rect">
            <a:avLst/>
          </a:prstGeom>
          <a:solidFill>
            <a:srgbClr val="00184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18745" algn="l" rtl="0" eaLnBrk="0">
              <a:lnSpc>
                <a:spcPct val="76000"/>
              </a:lnSpc>
              <a:spcBef>
                <a:spcPts val="3"/>
              </a:spcBef>
              <a:tabLst/>
            </a:pPr>
            <a:r>
              <a:rPr sz="1100" kern="0" spc="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THE PASSAGE</a:t>
            </a:r>
            <a:endParaRPr sz="1100" dirty="0">
              <a:latin typeface="Lucida Sans Unicode"/>
              <a:ea typeface="Lucida Sans Unicode"/>
              <a:cs typeface="Lucida Sans Unicode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7225" y="2533650"/>
            <a:ext cx="19050" cy="2238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 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4" name="table 44"/>
          <p:cNvGraphicFramePr>
            <a:graphicFrameLocks noGrp="1"/>
          </p:cNvGraphicFramePr>
          <p:nvPr/>
        </p:nvGraphicFramePr>
        <p:xfrm>
          <a:off x="657225" y="2609850"/>
          <a:ext cx="3504565" cy="2867025"/>
        </p:xfrm>
        <a:graphic>
          <a:graphicData uri="http://schemas.openxmlformats.org/drawingml/2006/table">
            <a:tbl>
              <a:tblPr/>
              <a:tblGrid>
                <a:gridCol w="187325"/>
                <a:gridCol w="3317240"/>
              </a:tblGrid>
              <a:tr h="2867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1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daunting</a:t>
                      </a:r>
                      <a:r>
                        <a:rPr sz="1800" kern="0" spc="-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4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800" kern="0" spc="14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ˈ</a:t>
                      </a:r>
                      <a:r>
                        <a:rPr sz="1800" kern="0" spc="14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1800" kern="0" spc="14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ɔ:</a:t>
                      </a:r>
                      <a:r>
                        <a:rPr sz="1800" kern="0" spc="14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nt</a:t>
                      </a:r>
                      <a:r>
                        <a:rPr sz="1800" kern="0" spc="14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ɪ</a:t>
                      </a:r>
                      <a:r>
                        <a:rPr sz="1800" kern="0" spc="14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ŋ/</a:t>
                      </a:r>
                      <a:r>
                        <a:rPr sz="1800" kern="0" spc="-1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adj.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235" algn="l" rtl="0" eaLnBrk="0">
                        <a:lnSpc>
                          <a:spcPct val="95000"/>
                        </a:lnSpc>
                        <a:spcBef>
                          <a:spcPts val="1377"/>
                        </a:spcBef>
                        <a:tabLst/>
                      </a:pPr>
                      <a:r>
                        <a:rPr sz="1400" kern="0" spc="8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令人畏惧的；使人气馁的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ct val="83000"/>
                        </a:lnSpc>
                        <a:spcBef>
                          <a:spcPts val="454"/>
                        </a:spcBef>
                        <a:tabLst/>
                      </a:pPr>
                      <a:r>
                        <a:rPr sz="1500" i="1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Starting college can feel daunting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ts val="2400"/>
                        </a:lnSpc>
                        <a:tabLst/>
                      </a:pPr>
                      <a:r>
                        <a:rPr sz="1500" i="1" kern="0" spc="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</a:t>
                      </a:r>
                      <a:r>
                        <a:rPr sz="1500" i="1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i="1" kern="0" spc="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first.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870" indent="6350" algn="l" rtl="0" eaLnBrk="0">
                        <a:lnSpc>
                          <a:spcPct val="13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搭配：</a:t>
                      </a:r>
                      <a:r>
                        <a:rPr sz="1400" kern="0" spc="-20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a</a:t>
                      </a:r>
                      <a:r>
                        <a:rPr sz="1400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daunting</a:t>
                      </a:r>
                      <a:r>
                        <a:rPr sz="1400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task</a:t>
                      </a:r>
                      <a:r>
                        <a:rPr sz="1400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/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challenge   </a:t>
                      </a:r>
                      <a:r>
                        <a:rPr sz="1400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/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prospect</a:t>
                      </a:r>
                      <a:r>
                        <a:rPr sz="1400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  <a:r>
                        <a:rPr sz="1400" kern="0" spc="-28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find</a:t>
                      </a:r>
                      <a:r>
                        <a:rPr sz="1400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sth</a:t>
                      </a:r>
                      <a:r>
                        <a:rPr sz="1400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daunting</a:t>
                      </a:r>
                      <a:endParaRPr sz="14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6" name="table 46"/>
          <p:cNvGraphicFramePr>
            <a:graphicFrameLocks noGrp="1"/>
          </p:cNvGraphicFramePr>
          <p:nvPr/>
        </p:nvGraphicFramePr>
        <p:xfrm>
          <a:off x="4343400" y="2609850"/>
          <a:ext cx="3504565" cy="2867025"/>
        </p:xfrm>
        <a:graphic>
          <a:graphicData uri="http://schemas.openxmlformats.org/drawingml/2006/table">
            <a:tbl>
              <a:tblPr/>
              <a:tblGrid>
                <a:gridCol w="187325"/>
                <a:gridCol w="3317240"/>
              </a:tblGrid>
              <a:tr h="2867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4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8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sheer</a:t>
                      </a:r>
                      <a:r>
                        <a:rPr sz="1800" kern="0" spc="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8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800" kern="0" spc="8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ʃɪ</a:t>
                      </a:r>
                      <a:r>
                        <a:rPr sz="1800" kern="0" spc="8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r/ </a:t>
                      </a:r>
                      <a:r>
                        <a:rPr sz="1800" kern="0" spc="8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adj.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indent="114300" algn="l" rtl="0" eaLnBrk="0">
                        <a:lnSpc>
                          <a:spcPct val="138000"/>
                        </a:lnSpc>
                        <a:spcBef>
                          <a:spcPts val="845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（强调数量 </a:t>
                      </a:r>
                      <a:r>
                        <a:rPr sz="1400" b="1" kern="0" spc="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Corbel"/>
                          <a:ea typeface="Corbel"/>
                          <a:cs typeface="Corbel"/>
                        </a:rPr>
                        <a:t>/</a:t>
                      </a:r>
                      <a:r>
                        <a:rPr sz="1400" b="1" kern="0" spc="1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程度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r>
                        <a:rPr sz="1400" kern="0" spc="-26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十足的；</a:t>
                      </a:r>
                      <a:r>
                        <a:rPr sz="1400" kern="0" spc="-3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纯粹     </a:t>
                      </a:r>
                      <a:r>
                        <a:rPr sz="1400" kern="0" spc="-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83000"/>
                        </a:lnSpc>
                        <a:spcBef>
                          <a:spcPts val="454"/>
                        </a:spcBef>
                        <a:tabLst/>
                      </a:pPr>
                      <a:r>
                        <a:rPr sz="1500" i="1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sheer number of </a:t>
                      </a:r>
                      <a:r>
                        <a:rPr sz="1500" i="1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choices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825" algn="l" rtl="0" eaLnBrk="0">
                        <a:lnSpc>
                          <a:spcPts val="2325"/>
                        </a:lnSpc>
                        <a:tabLst/>
                      </a:pPr>
                      <a:r>
                        <a:rPr sz="1500" i="1" kern="0" spc="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overwhelmed her.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220" algn="l" rtl="0" eaLnBrk="0">
                        <a:lnSpc>
                          <a:spcPct val="99000"/>
                        </a:lnSpc>
                        <a:spcBef>
                          <a:spcPts val="425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搭配：</a:t>
                      </a:r>
                      <a:r>
                        <a:rPr sz="1400" kern="0" spc="-26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sheer number / </a:t>
                      </a:r>
                      <a:r>
                        <a:rPr sz="1400" kern="0" spc="-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size / scale</a:t>
                      </a:r>
                      <a:endParaRPr sz="14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  <a:p>
                      <a:pPr marL="102235" algn="l" rtl="0" eaLnBrk="0">
                        <a:lnSpc>
                          <a:spcPts val="2400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/ volume</a:t>
                      </a:r>
                      <a:r>
                        <a:rPr sz="1400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/</a:t>
                      </a:r>
                      <a:r>
                        <a:rPr sz="1400" kern="0" spc="-1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joy</a:t>
                      </a:r>
                      <a:endParaRPr sz="14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8" name="table 48"/>
          <p:cNvGraphicFramePr>
            <a:graphicFrameLocks noGrp="1"/>
          </p:cNvGraphicFramePr>
          <p:nvPr/>
        </p:nvGraphicFramePr>
        <p:xfrm>
          <a:off x="8029575" y="2609850"/>
          <a:ext cx="3505200" cy="2867025"/>
        </p:xfrm>
        <a:graphic>
          <a:graphicData uri="http://schemas.openxmlformats.org/drawingml/2006/table">
            <a:tbl>
              <a:tblPr/>
              <a:tblGrid>
                <a:gridCol w="188595"/>
                <a:gridCol w="3316604"/>
              </a:tblGrid>
              <a:tr h="2867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0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85" indent="-127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800" kern="0" spc="1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impulsively</a:t>
                      </a:r>
                      <a:r>
                        <a:rPr sz="1800" kern="0" spc="-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2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800" kern="0" spc="12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ɪ</a:t>
                      </a:r>
                      <a:r>
                        <a:rPr sz="1800" kern="0" spc="12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1800" kern="0" spc="12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ˈ</a:t>
                      </a:r>
                      <a:r>
                        <a:rPr sz="1800" kern="0" spc="-42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</a:t>
                      </a:r>
                      <a:r>
                        <a:rPr sz="1800" kern="0" spc="12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1800" kern="0" spc="12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Λ</a:t>
                      </a:r>
                      <a:r>
                        <a:rPr sz="1800" kern="0" spc="12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  <a:r>
                        <a:rPr sz="1800" kern="0" spc="12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ɪ</a:t>
                      </a:r>
                      <a:r>
                        <a:rPr sz="1800" kern="0" spc="12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1800" kern="0" spc="11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li/</a:t>
                      </a:r>
                      <a:r>
                        <a:rPr sz="1800" kern="0" spc="0" dirty="0">
                          <a:solidFill>
                            <a:srgbClr val="B05B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1800" kern="0" spc="1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adv.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235" algn="l" rtl="0" eaLnBrk="0">
                        <a:lnSpc>
                          <a:spcPct val="95000"/>
                        </a:lnSpc>
                        <a:spcBef>
                          <a:spcPts val="424"/>
                        </a:spcBef>
                        <a:tabLst/>
                      </a:pPr>
                      <a:r>
                        <a:rPr sz="1400" kern="0" spc="8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冲动地；凭一时冲动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254" algn="l" rtl="0" eaLnBrk="0">
                        <a:lnSpc>
                          <a:spcPct val="83000"/>
                        </a:lnSpc>
                        <a:spcBef>
                          <a:spcPts val="454"/>
                        </a:spcBef>
                        <a:tabLst/>
                      </a:pPr>
                      <a:r>
                        <a:rPr sz="1500" i="1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 impulsively signed up for f</a:t>
                      </a:r>
                      <a:r>
                        <a:rPr sz="1500" i="1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ive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ts val="2400"/>
                        </a:lnSpc>
                        <a:tabLst/>
                      </a:pPr>
                      <a:r>
                        <a:rPr sz="1500" i="1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clubs</a:t>
                      </a:r>
                      <a:r>
                        <a:rPr sz="1500" i="1" kern="0" spc="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99000"/>
                        </a:lnSpc>
                        <a:spcBef>
                          <a:spcPts val="1562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搭配：</a:t>
                      </a:r>
                      <a:r>
                        <a:rPr sz="1400" kern="0" spc="-26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act / decide /</a:t>
                      </a:r>
                      <a:r>
                        <a:rPr sz="1400" kern="0" spc="-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buy / react</a:t>
                      </a:r>
                      <a:endParaRPr sz="14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  <a:p>
                      <a:pPr marL="113664" algn="l" rtl="0" eaLnBrk="0">
                        <a:lnSpc>
                          <a:spcPts val="2400"/>
                        </a:lnSpc>
                        <a:tabLst/>
                      </a:pP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impulsively</a:t>
                      </a:r>
                      <a:endParaRPr sz="14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" name="textbox 50"/>
          <p:cNvSpPr/>
          <p:nvPr/>
        </p:nvSpPr>
        <p:spPr>
          <a:xfrm>
            <a:off x="673412" y="1771744"/>
            <a:ext cx="5919470" cy="541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3700" kern="0" spc="28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重点词汇 </a:t>
            </a:r>
            <a:r>
              <a:rPr sz="3700" kern="0" spc="28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37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3700" kern="0" spc="28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7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Vocabulary</a:t>
            </a:r>
            <a:endParaRPr sz="3700" dirty="0">
              <a:latin typeface="Arial"/>
              <a:ea typeface="Arial"/>
              <a:cs typeface="Arial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57224" y="1381125"/>
            <a:ext cx="1924050" cy="285750"/>
          </a:xfrm>
          <a:prstGeom prst="rect">
            <a:avLst/>
          </a:prstGeom>
          <a:solidFill>
            <a:srgbClr val="00184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2079" algn="l" rtl="0" eaLnBrk="0">
              <a:lnSpc>
                <a:spcPct val="91000"/>
              </a:lnSpc>
              <a:spcBef>
                <a:spcPts val="6"/>
              </a:spcBef>
              <a:tabLst/>
            </a:pPr>
            <a:r>
              <a:rPr sz="1100" kern="0" spc="-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KEY VOCABULARY · 1 / 2</a:t>
            </a:r>
            <a:endParaRPr sz="1100" dirty="0">
              <a:latin typeface="Lucida Sans Unicode"/>
              <a:ea typeface="Lucida Sans Unicode"/>
              <a:cs typeface="Lucida Sans Unicode"/>
            </a:endParaRPr>
          </a:p>
        </p:txBody>
      </p:sp>
      <p:pic>
        <p:nvPicPr>
          <p:cNvPr id="54" name="picture 54">
            <a:hlinkClick r:id="rId3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392733" y="6392955"/>
            <a:ext cx="1653526" cy="320488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43400" y="2609850"/>
            <a:ext cx="85725" cy="2867025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29575" y="2609850"/>
            <a:ext cx="85725" cy="2867025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7225" y="2609850"/>
            <a:ext cx="85724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 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rect 64"/>
          <p:cNvSpPr/>
          <p:nvPr/>
        </p:nvSpPr>
        <p:spPr>
          <a:xfrm>
            <a:off x="6200775" y="2009775"/>
            <a:ext cx="5476875" cy="4076700"/>
          </a:xfrm>
          <a:prstGeom prst="rect">
            <a:avLst/>
          </a:prstGeom>
          <a:solidFill>
            <a:srgbClr val="E1C2C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6" name="table 66"/>
          <p:cNvGraphicFramePr>
            <a:graphicFrameLocks noGrp="1"/>
          </p:cNvGraphicFramePr>
          <p:nvPr/>
        </p:nvGraphicFramePr>
        <p:xfrm>
          <a:off x="657225" y="2219325"/>
          <a:ext cx="2514600" cy="3657600"/>
        </p:xfrm>
        <a:graphic>
          <a:graphicData uri="http://schemas.openxmlformats.org/drawingml/2006/table">
            <a:tbl>
              <a:tblPr/>
              <a:tblGrid>
                <a:gridCol w="191135"/>
                <a:gridCol w="2323464"/>
              </a:tblGrid>
              <a:tr h="3657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475" algn="l" rtl="0" eaLnBrk="0">
                        <a:lnSpc>
                          <a:spcPct val="8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1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paralysis</a:t>
                      </a:r>
                      <a:r>
                        <a:rPr sz="1800" kern="0" spc="7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algn="l" rtl="0" eaLnBrk="0">
                        <a:lnSpc>
                          <a:spcPct val="79000"/>
                        </a:lnSpc>
                        <a:spcBef>
                          <a:spcPts val="522"/>
                        </a:spcBef>
                        <a:tabLst/>
                      </a:pPr>
                      <a:r>
                        <a:rPr sz="1800" kern="0" spc="8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  <a:r>
                        <a:rPr sz="1800" kern="0" spc="26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i="1" kern="0" spc="8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n. phr.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170" algn="l" rtl="0" eaLnBrk="0">
                        <a:lnSpc>
                          <a:spcPct val="91000"/>
                        </a:lnSpc>
                        <a:spcBef>
                          <a:spcPts val="424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「分析瘫痪」</a:t>
                      </a:r>
                      <a:r>
                        <a:rPr sz="1400" kern="0" spc="-2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——</a:t>
                      </a:r>
                      <a:r>
                        <a:rPr sz="1400" kern="0" spc="-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想太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1125" algn="l" rtl="0" eaLnBrk="0">
                        <a:lnSpc>
                          <a:spcPts val="2376"/>
                        </a:lnSpc>
                        <a:tabLst/>
                      </a:pPr>
                      <a:r>
                        <a:rPr sz="1400" kern="0" spc="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</a:t>
                      </a:r>
                      <a:r>
                        <a:rPr sz="1400" kern="0" spc="-2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400" kern="0" spc="-3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反而做不了决定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39" algn="l" rtl="0" eaLnBrk="0">
                        <a:lnSpc>
                          <a:spcPct val="83000"/>
                        </a:lnSpc>
                        <a:spcBef>
                          <a:spcPts val="452"/>
                        </a:spcBef>
                        <a:tabLst/>
                      </a:pPr>
                      <a:r>
                        <a:rPr sz="1500" i="1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Trapped in</a:t>
                      </a:r>
                      <a:r>
                        <a:rPr sz="1500" i="1" kern="0" spc="9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i="1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paralysis o</a:t>
                      </a:r>
                      <a:r>
                        <a:rPr sz="1500" i="1" kern="0" spc="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110" algn="l" rtl="0" eaLnBrk="0">
                        <a:lnSpc>
                          <a:spcPts val="2400"/>
                        </a:lnSpc>
                        <a:tabLst/>
                      </a:pPr>
                      <a:r>
                        <a:rPr sz="1500" i="1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  <a:r>
                        <a:rPr sz="1500" i="1" kern="0" spc="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1500" i="1" kern="0" spc="14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i="1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she</a:t>
                      </a:r>
                      <a:r>
                        <a:rPr sz="1500" i="1" kern="0" spc="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i="1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never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83000"/>
                        </a:lnSpc>
                        <a:spcBef>
                          <a:spcPts val="906"/>
                        </a:spcBef>
                        <a:tabLst/>
                      </a:pPr>
                      <a:r>
                        <a:rPr sz="1500" i="1" kern="0" spc="-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chose.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99000"/>
                        </a:lnSpc>
                        <a:spcBef>
                          <a:spcPts val="428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搭配：</a:t>
                      </a:r>
                      <a:r>
                        <a:rPr sz="1400" kern="0" spc="-25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fall into / be</a:t>
                      </a:r>
                      <a:endParaRPr sz="14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stuck in / suffer from</a:t>
                      </a:r>
                      <a:endParaRPr sz="14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8" name="table 68"/>
          <p:cNvGraphicFramePr>
            <a:graphicFrameLocks noGrp="1"/>
          </p:cNvGraphicFramePr>
          <p:nvPr/>
        </p:nvGraphicFramePr>
        <p:xfrm>
          <a:off x="3362325" y="2219325"/>
          <a:ext cx="2505075" cy="3657600"/>
        </p:xfrm>
        <a:graphic>
          <a:graphicData uri="http://schemas.openxmlformats.org/drawingml/2006/table">
            <a:tbl>
              <a:tblPr/>
              <a:tblGrid>
                <a:gridCol w="183514"/>
                <a:gridCol w="2321560"/>
              </a:tblGrid>
              <a:tr h="3657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635" indent="-11429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1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press down</a:t>
                      </a:r>
                      <a:r>
                        <a:rPr sz="18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 </a:t>
                      </a:r>
                      <a:r>
                        <a:rPr sz="1900" i="1" kern="0" spc="1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v.</a:t>
                      </a:r>
                      <a:r>
                        <a:rPr sz="1900" i="1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i="1" kern="0" spc="8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phr.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330" indent="-2540" algn="l" rtl="0" eaLnBrk="0">
                        <a:lnSpc>
                          <a:spcPct val="141000"/>
                        </a:lnSpc>
                        <a:spcBef>
                          <a:spcPts val="1504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压在</a:t>
                      </a:r>
                      <a:r>
                        <a:rPr sz="1400" b="1" kern="0" spc="6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Corbel"/>
                          <a:ea typeface="Corbel"/>
                          <a:cs typeface="Corbel"/>
                        </a:rPr>
                        <a:t>…</a:t>
                      </a:r>
                      <a:r>
                        <a:rPr sz="1400" kern="0" spc="6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上；</a:t>
                      </a:r>
                      <a:r>
                        <a:rPr sz="1400" kern="0" spc="-27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6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</a:t>
                      </a:r>
                      <a:r>
                        <a:rPr sz="1400" b="1" kern="0" spc="6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Corbel"/>
                          <a:ea typeface="Corbel"/>
                          <a:cs typeface="Corbel"/>
                        </a:rPr>
                        <a:t>…</a:t>
                      </a:r>
                      <a:r>
                        <a:rPr sz="1400" kern="0" spc="6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施加压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400" kern="0" spc="-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⼒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83000"/>
                        </a:lnSpc>
                        <a:spcBef>
                          <a:spcPts val="457"/>
                        </a:spcBef>
                        <a:tabLst/>
                      </a:pPr>
                      <a:r>
                        <a:rPr sz="1500" i="1" kern="0" spc="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All these decis</a:t>
                      </a:r>
                      <a:r>
                        <a:rPr sz="1500" i="1" kern="0" spc="1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ions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85" indent="15875" algn="l" rtl="0" eaLnBrk="0">
                        <a:lnSpc>
                          <a:spcPct val="128000"/>
                        </a:lnSpc>
                        <a:spcBef>
                          <a:spcPts val="237"/>
                        </a:spcBef>
                        <a:tabLst/>
                      </a:pPr>
                      <a:r>
                        <a:rPr sz="1500" i="1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press</a:t>
                      </a:r>
                      <a:r>
                        <a:rPr sz="1500" i="1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i="1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down</a:t>
                      </a:r>
                      <a:r>
                        <a:rPr sz="1500" i="1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i="1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</a:t>
                      </a:r>
                      <a:r>
                        <a:rPr sz="1500" i="1" kern="0" spc="7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i="1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</a:t>
                      </a:r>
                      <a:r>
                        <a:rPr sz="1500" i="1" kern="0" spc="10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i="1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18-</a:t>
                      </a:r>
                      <a:r>
                        <a:rPr sz="1500" i="1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1500" i="1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year-old.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04" algn="l" rtl="0" eaLnBrk="0">
                        <a:lnSpc>
                          <a:spcPct val="99000"/>
                        </a:lnSpc>
                        <a:spcBef>
                          <a:spcPts val="432"/>
                        </a:spcBef>
                        <a:tabLst/>
                      </a:pPr>
                      <a:r>
                        <a:rPr sz="1400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近义：</a:t>
                      </a:r>
                      <a:r>
                        <a:rPr sz="1400" kern="0" spc="-32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weigh</a:t>
                      </a:r>
                      <a:r>
                        <a:rPr sz="1400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on</a:t>
                      </a:r>
                      <a:r>
                        <a:rPr sz="1400" kern="0" spc="3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 / </a:t>
                      </a: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bear</a:t>
                      </a:r>
                      <a:endParaRPr sz="14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  <a:p>
                      <a:pPr marL="106679" algn="l" rtl="0" eaLnBrk="0">
                        <a:lnSpc>
                          <a:spcPts val="2400"/>
                        </a:lnSpc>
                        <a:tabLst/>
                      </a:pPr>
                      <a:r>
                        <a:rPr sz="1400" kern="0" spc="0" dirty="0">
                          <a:solidFill>
                            <a:srgbClr val="E0D6DE">
                              <a:alpha val="100000"/>
                            </a:srgbClr>
                          </a:solidFill>
                          <a:latin typeface="Lucida Sans Unicode"/>
                          <a:ea typeface="Lucida Sans Unicode"/>
                          <a:cs typeface="Lucida Sans Unicode"/>
                        </a:rPr>
                        <a:t>down on / burden</a:t>
                      </a:r>
                      <a:endParaRPr sz="1400" dirty="0">
                        <a:latin typeface="Lucida Sans Unicode"/>
                        <a:ea typeface="Lucida Sans Unicode"/>
                        <a:cs typeface="Lucida Sans Unicode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3F3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0" name="textbox 70"/>
          <p:cNvSpPr/>
          <p:nvPr/>
        </p:nvSpPr>
        <p:spPr>
          <a:xfrm>
            <a:off x="6610445" y="2713126"/>
            <a:ext cx="2221864" cy="1650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93000"/>
              </a:lnSpc>
              <a:tabLst/>
            </a:pP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impulse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93000"/>
              </a:lnSpc>
              <a:spcBef>
                <a:spcPts val="316"/>
              </a:spcBef>
              <a:tabLst/>
            </a:pP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impulsive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84000"/>
              </a:lnSpc>
              <a:spcBef>
                <a:spcPts val="535"/>
              </a:spcBef>
              <a:tabLst/>
            </a:pP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impulsively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430"/>
              </a:spcBef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冲动</a:t>
            </a:r>
            <a:r>
              <a:rPr sz="1400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4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n.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冲动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66"/>
              </a:lnSpc>
              <a:spcBef>
                <a:spcPts val="6"/>
              </a:spcBef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adj.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3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冲动地</a:t>
            </a:r>
            <a:r>
              <a:rPr sz="13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adv.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9274422" y="2713126"/>
            <a:ext cx="2159000" cy="1650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indent="1270" algn="l" rtl="0" eaLnBrk="0">
              <a:lnSpc>
                <a:spcPct val="97000"/>
              </a:lnSpc>
              <a:tabLst/>
            </a:pP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daunt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daunting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undaunted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765" indent="-12064" algn="l" rtl="0" eaLnBrk="0">
              <a:lnSpc>
                <a:spcPct val="136000"/>
              </a:lnSpc>
              <a:spcBef>
                <a:spcPts val="420"/>
              </a:spcBef>
              <a:tabLst/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使胆怯</a:t>
            </a:r>
            <a:r>
              <a:rPr sz="1400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v.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令人生畏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4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adj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.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4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无畏的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ts val="1666"/>
              </a:lnSpc>
              <a:spcBef>
                <a:spcPts val="3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adj.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673412" y="1162144"/>
            <a:ext cx="6438265" cy="535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2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3700" kern="0" spc="16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重点词汇 </a:t>
            </a:r>
            <a:r>
              <a:rPr sz="3700" kern="0" spc="16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37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Traps</a:t>
            </a:r>
            <a:r>
              <a:rPr sz="3700" kern="0" spc="16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&amp; </a:t>
            </a:r>
            <a:r>
              <a:rPr sz="37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Pressures</a:t>
            </a:r>
            <a:endParaRPr sz="3700" dirty="0">
              <a:latin typeface="Arial"/>
              <a:ea typeface="Arial"/>
              <a:cs typeface="Arial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6387208" y="2208301"/>
            <a:ext cx="2613660" cy="283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词汇拓展 </a:t>
            </a: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Word</a:t>
            </a: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Family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657224" y="771525"/>
            <a:ext cx="1924050" cy="285750"/>
          </a:xfrm>
          <a:prstGeom prst="rect">
            <a:avLst/>
          </a:prstGeom>
          <a:solidFill>
            <a:srgbClr val="00184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2079" algn="l" rtl="0" eaLnBrk="0">
              <a:lnSpc>
                <a:spcPct val="91000"/>
              </a:lnSpc>
              <a:spcBef>
                <a:spcPts val="6"/>
              </a:spcBef>
              <a:tabLst/>
            </a:pPr>
            <a:r>
              <a:rPr sz="1100" kern="0" spc="-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KEY VOCABULARY · 2 / 2</a:t>
            </a:r>
            <a:endParaRPr sz="1100" dirty="0">
              <a:latin typeface="Lucida Sans Unicode"/>
              <a:ea typeface="Lucida Sans Unicode"/>
              <a:cs typeface="Lucida Sans Unicode"/>
            </a:endParaRPr>
          </a:p>
        </p:txBody>
      </p:sp>
      <p:pic>
        <p:nvPicPr>
          <p:cNvPr id="80" name="picture 80">
            <a:hlinkClick r:id="rId3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392733" y="6392955"/>
            <a:ext cx="1653526" cy="320488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62325" y="2219325"/>
            <a:ext cx="85725" cy="36576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57225" y="2219325"/>
            <a:ext cx="85724" cy="365760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72225" y="2686050"/>
            <a:ext cx="38100" cy="1724025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039225" y="2686050"/>
            <a:ext cx="38100" cy="1724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 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" name="textbox 92"/>
          <p:cNvSpPr/>
          <p:nvPr/>
        </p:nvSpPr>
        <p:spPr>
          <a:xfrm>
            <a:off x="6315075" y="1885950"/>
            <a:ext cx="5229225" cy="1314450"/>
          </a:xfrm>
          <a:prstGeom prst="rect">
            <a:avLst/>
          </a:prstGeom>
          <a:solidFill>
            <a:srgbClr val="0028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6875" algn="l" rtl="0" eaLnBrk="0">
              <a:lnSpc>
                <a:spcPct val="88000"/>
              </a:lnSpc>
              <a:tabLst>
                <a:tab pos="607694" algn="l"/>
              </a:tabLst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600" kern="0" spc="2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修辞 </a:t>
            </a:r>
            <a:r>
              <a:rPr sz="16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1600" kern="0" spc="2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排比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Accumulation</a:t>
            </a: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613409" algn="l" rtl="0" eaLnBrk="0">
              <a:lnSpc>
                <a:spcPct val="127000"/>
              </a:lnSpc>
              <a:spcBef>
                <a:spcPts val="1"/>
              </a:spcBef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五个动作层层叠加</a:t>
            </a:r>
            <a:r>
              <a:rPr sz="1300" kern="0" spc="-2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，把选择的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Π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重量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Π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一并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压给读者</a:t>
            </a:r>
            <a:r>
              <a:rPr sz="1300" kern="0" spc="-2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，制造扑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面而来的压迫感。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26447" y="2108782"/>
            <a:ext cx="185960" cy="185960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910736" y="2494395"/>
            <a:ext cx="4965700" cy="1226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9000"/>
              </a:lnSpc>
              <a:tabLst/>
            </a:pP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Choosing</a:t>
            </a:r>
            <a:r>
              <a:rPr sz="1300" b="1" kern="0" spc="12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</a:t>
            </a:r>
            <a:r>
              <a:rPr sz="1300" b="1" kern="0" spc="18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major,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9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deciding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9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on</a:t>
            </a:r>
            <a:r>
              <a:rPr sz="1300" b="1" kern="0" spc="18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9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minors, joining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9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clubs,</a:t>
            </a:r>
            <a:endParaRPr sz="1300" dirty="0">
              <a:latin typeface="Corbel"/>
              <a:ea typeface="Corbel"/>
              <a:cs typeface="Corbel"/>
            </a:endParaRPr>
          </a:p>
          <a:p>
            <a:pPr marL="12700" algn="l" rtl="0" eaLnBrk="0">
              <a:lnSpc>
                <a:spcPct val="125000"/>
              </a:lnSpc>
              <a:spcBef>
                <a:spcPts val="194"/>
              </a:spcBef>
              <a:tabLst/>
            </a:pPr>
            <a:r>
              <a:rPr sz="1300" b="1" kern="0" spc="11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applying for</a:t>
            </a:r>
            <a:r>
              <a:rPr sz="1300" b="1" kern="0" spc="17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1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inte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rnships,</a:t>
            </a:r>
            <a:r>
              <a:rPr sz="1300" b="1" kern="0" spc="13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and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even</a:t>
            </a:r>
            <a:r>
              <a:rPr sz="1300" b="1" kern="0" spc="17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picking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career</a:t>
            </a:r>
            <a:r>
              <a:rPr sz="1300" b="1" kern="0" spc="17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path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kern="0" spc="1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—</a:t>
            </a:r>
            <a:r>
              <a:rPr sz="13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all these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decisions</a:t>
            </a:r>
            <a:r>
              <a:rPr sz="1300" b="1" kern="0" spc="17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press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down</a:t>
            </a:r>
            <a:r>
              <a:rPr sz="1300" b="1" kern="0" spc="15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on</a:t>
            </a:r>
            <a:r>
              <a:rPr sz="1300" b="1" kern="0" spc="13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an</a:t>
            </a:r>
            <a:r>
              <a:rPr sz="1300" b="1" kern="0" spc="15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18-year-old w</a:t>
            </a:r>
            <a:r>
              <a:rPr sz="1300" b="1" kern="0" spc="9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ho, just</a:t>
            </a:r>
            <a:r>
              <a:rPr sz="1300" b="1" kern="0" spc="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1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 year</a:t>
            </a:r>
            <a:r>
              <a:rPr sz="1300" b="1" kern="0" spc="12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1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ago, was</a:t>
            </a:r>
            <a:r>
              <a:rPr sz="1300" b="1" kern="0" spc="18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1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mainly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1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concerned with</a:t>
            </a:r>
            <a:r>
              <a:rPr sz="1300" b="1" kern="0" spc="18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1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pa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ssing</a:t>
            </a:r>
            <a:r>
              <a:rPr sz="1300" b="1" kern="0" spc="17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high</a:t>
            </a:r>
            <a:endParaRPr sz="1300" dirty="0">
              <a:latin typeface="Corbel"/>
              <a:ea typeface="Corbel"/>
              <a:cs typeface="Corbe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6000"/>
              </a:lnSpc>
              <a:spcBef>
                <a:spcPts val="5"/>
              </a:spcBef>
              <a:tabLst/>
            </a:pP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school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exam</a:t>
            </a:r>
            <a:r>
              <a:rPr sz="1300" b="1" kern="0" spc="9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s.</a:t>
            </a:r>
            <a:endParaRPr sz="1300" dirty="0">
              <a:latin typeface="Corbel"/>
              <a:ea typeface="Corbel"/>
              <a:cs typeface="Corbel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6306245" y="3372088"/>
            <a:ext cx="5236209" cy="1173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8000"/>
              </a:lnSpc>
              <a:tabLst/>
            </a:pPr>
            <a:r>
              <a:rPr sz="1600" kern="0" spc="4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参考译文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26000"/>
              </a:lnSpc>
              <a:tabLst/>
            </a:pPr>
            <a:r>
              <a:rPr sz="1300" kern="0" spc="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选专业、定辅修、加社团、</a:t>
            </a:r>
            <a:r>
              <a:rPr sz="1300" kern="0" spc="-20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申实</a:t>
            </a:r>
            <a:r>
              <a:rPr sz="1300" kern="0" spc="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习</a:t>
            </a:r>
            <a:r>
              <a:rPr sz="1300" kern="0" spc="-2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，甚至规划职业道路</a:t>
            </a:r>
            <a:r>
              <a:rPr sz="1300" kern="0" spc="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——</a:t>
            </a:r>
            <a:r>
              <a:rPr sz="1300" kern="0" spc="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所有这些</a:t>
            </a:r>
            <a:r>
              <a:rPr sz="13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决定</a:t>
            </a:r>
            <a:r>
              <a:rPr sz="1300" kern="0" spc="-1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，一股脑压在一个 </a:t>
            </a:r>
            <a:r>
              <a:rPr sz="13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18 </a:t>
            </a:r>
            <a:r>
              <a:rPr sz="13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岁的人身上；</a:t>
            </a:r>
            <a:r>
              <a:rPr sz="1300" kern="0" spc="-28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而仅仅一年前</a:t>
            </a:r>
            <a:r>
              <a:rPr sz="1300" kern="0" spc="-2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，他操心的还只</a:t>
            </a:r>
            <a:r>
              <a:rPr sz="1300" kern="0" spc="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是能不能通过高中考试。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672657" y="965593"/>
            <a:ext cx="6523355" cy="462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300" kern="0" spc="31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长难句解析 </a:t>
            </a:r>
            <a:r>
              <a:rPr sz="3300" kern="0" spc="31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33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3300" kern="0" spc="31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List</a:t>
            </a:r>
            <a:r>
              <a:rPr sz="3300" kern="0" spc="30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3300" kern="0" spc="30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Choices</a:t>
            </a:r>
            <a:endParaRPr sz="3300" dirty="0">
              <a:latin typeface="Arial"/>
              <a:ea typeface="Arial"/>
              <a:cs typeface="Arial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711200" y="4890759"/>
            <a:ext cx="4838700" cy="493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0540" indent="-242570" algn="l" rtl="0" eaLnBrk="0">
              <a:lnSpc>
                <a:spcPct val="118000"/>
              </a:lnSpc>
              <a:tabLst>
                <a:tab pos="509269" algn="l"/>
              </a:tabLst>
            </a:pPr>
            <a:r>
              <a:rPr sz="13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-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五个并列 </a:t>
            </a:r>
            <a:r>
              <a:rPr sz="1300" b="1" kern="0" spc="-1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V-ing</a:t>
            </a:r>
            <a:r>
              <a:rPr sz="1300" kern="0" spc="-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（列举</a:t>
            </a:r>
            <a:r>
              <a:rPr sz="1300" kern="0" spc="-2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）：</a:t>
            </a:r>
            <a:r>
              <a:rPr sz="1300" kern="0" spc="-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Choosing / deciding /</a:t>
            </a:r>
            <a:r>
              <a:rPr sz="1300" kern="0" spc="-1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300" kern="0" spc="-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joining /</a:t>
            </a:r>
            <a:r>
              <a:rPr sz="13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300" kern="0" spc="-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applying / picking</a:t>
            </a:r>
            <a:endParaRPr sz="1300" dirty="0">
              <a:latin typeface="Lucida Sans Unicode"/>
              <a:ea typeface="Lucida Sans Unicode"/>
              <a:cs typeface="Lucida Sans Unicode"/>
            </a:endParaRPr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23900" y="4903459"/>
            <a:ext cx="255376" cy="219186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711200" y="5719433"/>
            <a:ext cx="8780144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7970" algn="l" rtl="0" eaLnBrk="0">
              <a:lnSpc>
                <a:spcPct val="98000"/>
              </a:lnSpc>
              <a:spcBef>
                <a:spcPts val="1"/>
              </a:spcBef>
              <a:tabLst>
                <a:tab pos="508000" algn="l"/>
              </a:tabLst>
            </a:pPr>
            <a:r>
              <a:rPr sz="13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-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谓语</a:t>
            </a:r>
            <a:r>
              <a:rPr sz="1300" kern="0" spc="7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-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press down on + </a:t>
            </a:r>
            <a:r>
              <a:rPr sz="1300" kern="0" spc="-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宾语 </a:t>
            </a:r>
            <a:r>
              <a:rPr sz="1300" kern="0" spc="-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</a:t>
            </a:r>
            <a:r>
              <a:rPr sz="1300" kern="0" spc="-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n 18-year-old                                             </a:t>
            </a:r>
            <a:r>
              <a:rPr sz="1300" kern="0" spc="-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定语从句 </a:t>
            </a:r>
            <a:r>
              <a:rPr sz="1300" kern="0" spc="-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who</a:t>
            </a:r>
            <a:r>
              <a:rPr sz="1300" kern="0" spc="-3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300" kern="0" spc="-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…</a:t>
            </a:r>
            <a:r>
              <a:rPr sz="1300" kern="0" spc="-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修饰</a:t>
            </a:r>
            <a:r>
              <a:rPr sz="1300" kern="0" spc="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-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an</a:t>
            </a:r>
            <a:r>
              <a:rPr sz="1300" kern="0" spc="6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300" kern="0" spc="-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18-year-old</a:t>
            </a:r>
            <a:endParaRPr sz="1300" dirty="0">
              <a:latin typeface="Lucida Sans Unicode"/>
              <a:ea typeface="Lucida Sans Unicode"/>
              <a:cs typeface="Lucida Sans Unicode"/>
            </a:endParaRPr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05691" y="5732133"/>
            <a:ext cx="255375" cy="219186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23900" y="5732133"/>
            <a:ext cx="255376" cy="219186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6245225" y="4890759"/>
            <a:ext cx="3941445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7970" algn="l" rtl="0" eaLnBrk="0">
              <a:lnSpc>
                <a:spcPct val="98000"/>
              </a:lnSpc>
              <a:spcBef>
                <a:spcPts val="1"/>
              </a:spcBef>
              <a:tabLst>
                <a:tab pos="500380" algn="l"/>
              </a:tabLst>
            </a:pPr>
            <a:r>
              <a:rPr sz="13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1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破折号 总结上文 → 主语 </a:t>
            </a:r>
            <a:r>
              <a:rPr sz="1300" b="1" kern="0" spc="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all</a:t>
            </a:r>
            <a:r>
              <a:rPr sz="1300" b="1" kern="0" spc="18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these</a:t>
            </a:r>
            <a:r>
              <a:rPr sz="13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300" b="1" kern="0" spc="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decisions</a:t>
            </a:r>
            <a:endParaRPr sz="1300" dirty="0">
              <a:latin typeface="Corbel"/>
              <a:ea typeface="Corbel"/>
              <a:cs typeface="Corbel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257925" y="4903459"/>
            <a:ext cx="255375" cy="219186"/>
          </a:xfrm>
          <a:prstGeom prst="rect">
            <a:avLst/>
          </a:prstGeom>
        </p:spPr>
      </p:pic>
      <p:pic>
        <p:nvPicPr>
          <p:cNvPr id="116" name="picture 116">
            <a:hlinkClick r:id="rId8" action="ppaction://hlinkfil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392733" y="6392955"/>
            <a:ext cx="1653526" cy="320488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657224" y="638175"/>
            <a:ext cx="1847850" cy="257175"/>
          </a:xfrm>
          <a:prstGeom prst="rect">
            <a:avLst/>
          </a:prstGeom>
          <a:solidFill>
            <a:srgbClr val="00184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3029" algn="l" rtl="0" eaLnBrk="0">
              <a:lnSpc>
                <a:spcPct val="89000"/>
              </a:lnSpc>
              <a:spcBef>
                <a:spcPts val="2"/>
              </a:spcBef>
              <a:tabLst/>
            </a:pPr>
            <a:r>
              <a:rPr sz="10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SENTENCE</a:t>
            </a:r>
            <a:r>
              <a:rPr sz="10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0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STRUCTURE</a:t>
            </a:r>
            <a:r>
              <a:rPr sz="10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· 1</a:t>
            </a:r>
            <a:endParaRPr sz="1000" dirty="0">
              <a:latin typeface="Lucida Sans Unicode"/>
              <a:ea typeface="Lucida Sans Unicode"/>
              <a:cs typeface="Lucida Sans Unicode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656707" y="4048363"/>
            <a:ext cx="868044" cy="240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kern="0" spc="5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句子结构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656282" y="1867138"/>
            <a:ext cx="443230" cy="239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kern="0" spc="3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原句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4" name="picture 1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57225" y="2305050"/>
            <a:ext cx="1905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 1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" name="rect 128"/>
          <p:cNvSpPr/>
          <p:nvPr/>
        </p:nvSpPr>
        <p:spPr>
          <a:xfrm>
            <a:off x="6305550" y="1743075"/>
            <a:ext cx="5238750" cy="1905000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" name="textbox 130"/>
          <p:cNvSpPr/>
          <p:nvPr/>
        </p:nvSpPr>
        <p:spPr>
          <a:xfrm>
            <a:off x="6305550" y="3800475"/>
            <a:ext cx="5238750" cy="1200150"/>
          </a:xfrm>
          <a:prstGeom prst="rect">
            <a:avLst/>
          </a:prstGeom>
          <a:solidFill>
            <a:srgbClr val="0028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5125" algn="l" rtl="0" eaLnBrk="0">
              <a:lnSpc>
                <a:spcPct val="88000"/>
              </a:lnSpc>
              <a:spcBef>
                <a:spcPts val="4"/>
              </a:spcBef>
              <a:tabLst>
                <a:tab pos="571500" algn="l"/>
              </a:tabLst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修辞手法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0230" indent="-1270" algn="l" rtl="0" eaLnBrk="0">
              <a:lnSpc>
                <a:spcPct val="127000"/>
              </a:lnSpc>
              <a:tabLst/>
            </a:pPr>
            <a:r>
              <a:rPr sz="1200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拟人 </a:t>
            </a: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Personification</a:t>
            </a:r>
            <a:r>
              <a:rPr sz="1200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（把</a:t>
            </a:r>
            <a:r>
              <a:rPr sz="1200" kern="0" spc="11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1200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</a:t>
            </a:r>
            <a:r>
              <a:rPr sz="1200" kern="0" spc="11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1200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写成会低语、</a:t>
            </a:r>
            <a:r>
              <a:rPr sz="1200" kern="0" spc="-2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会尖叫的人）</a:t>
            </a:r>
            <a:r>
              <a:rPr sz="1200" kern="0" spc="-1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+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  </a:t>
            </a:r>
            <a:r>
              <a:rPr sz="1200" kern="0" spc="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对照 </a:t>
            </a: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Antithesis</a:t>
            </a:r>
            <a:r>
              <a:rPr sz="1200" kern="0" spc="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quiet</a:t>
            </a:r>
            <a:r>
              <a:rPr sz="1200" kern="0" spc="19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↔</a:t>
            </a:r>
            <a:r>
              <a:rPr sz="12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panic</a:t>
            </a:r>
            <a:r>
              <a:rPr sz="1200" kern="0" spc="-21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whisper</a:t>
            </a:r>
            <a:r>
              <a:rPr sz="1200" kern="0" spc="19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↔ 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scream</a:t>
            </a:r>
            <a:r>
              <a:rPr sz="1200" kern="0" spc="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95575" y="4003523"/>
            <a:ext cx="175672" cy="175672"/>
          </a:xfrm>
          <a:prstGeom prst="rect">
            <a:avLst/>
          </a:prstGeom>
        </p:spPr>
      </p:pic>
      <p:sp>
        <p:nvSpPr>
          <p:cNvPr id="134" name="textbox 134"/>
          <p:cNvSpPr/>
          <p:nvPr/>
        </p:nvSpPr>
        <p:spPr>
          <a:xfrm>
            <a:off x="671334" y="891130"/>
            <a:ext cx="8820784" cy="464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3100" kern="0" spc="43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长难句解析 </a:t>
            </a:r>
            <a:r>
              <a:rPr sz="3100" kern="0" spc="43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31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3100" kern="0" spc="43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Question</a:t>
            </a:r>
            <a:r>
              <a:rPr sz="3100" kern="0" spc="43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3100" kern="0" spc="43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Never</a:t>
            </a:r>
            <a:r>
              <a:rPr sz="3100" kern="0" spc="43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Leaves</a:t>
            </a:r>
            <a:endParaRPr sz="3100" dirty="0">
              <a:latin typeface="Arial"/>
              <a:ea typeface="Arial"/>
              <a:cs typeface="Arial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9074585" y="1896670"/>
            <a:ext cx="2082164" cy="1570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ts val="1860"/>
              </a:lnSpc>
              <a:tabLst>
                <a:tab pos="239395" algn="l"/>
              </a:tabLst>
            </a:pPr>
            <a:r>
              <a:rPr sz="1500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500" kern="0" spc="18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SCREAM</a:t>
            </a:r>
            <a:r>
              <a:rPr sz="1500" kern="0" spc="10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· </a:t>
            </a:r>
            <a:r>
              <a:rPr sz="1500" kern="0" spc="10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尖叫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0480" indent="-5714" algn="l" rtl="0" eaLnBrk="0">
              <a:lnSpc>
                <a:spcPct val="150000"/>
              </a:lnSpc>
              <a:spcBef>
                <a:spcPts val="7"/>
              </a:spcBef>
              <a:tabLst/>
            </a:pPr>
            <a:r>
              <a:rPr sz="1300" i="1" kern="0" spc="3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screaming in</a:t>
            </a:r>
            <a:r>
              <a:rPr sz="1300" i="1" kern="0" spc="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moments</a:t>
            </a:r>
            <a:r>
              <a:rPr sz="1300" i="1" kern="0" spc="3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3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panic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95000"/>
              </a:lnSpc>
              <a:spcBef>
                <a:spcPts val="1"/>
              </a:spcBef>
              <a:tabLst/>
            </a:pPr>
            <a:r>
              <a:rPr sz="1200" kern="0" spc="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慌乱时</a:t>
            </a:r>
            <a:r>
              <a:rPr sz="1200" kern="0" spc="-19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它在脑中放声尖叫。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朗读：</a:t>
            </a:r>
            <a:r>
              <a:rPr sz="1200" kern="0" spc="-18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重、</a:t>
            </a:r>
            <a:r>
              <a:rPr sz="1200" kern="0" spc="-20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响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8" name="picture 1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97607" y="1909370"/>
            <a:ext cx="216448" cy="236326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6457929" y="1896670"/>
            <a:ext cx="2079625" cy="155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851"/>
              </a:lnSpc>
              <a:tabLst/>
            </a:pPr>
            <a:r>
              <a:rPr sz="1500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●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WHISPER</a:t>
            </a:r>
            <a:r>
              <a:rPr sz="1500" kern="0" spc="2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· </a:t>
            </a:r>
            <a:r>
              <a:rPr sz="1500" kern="0" spc="2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低语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3495" indent="-6350" algn="l" rtl="0" eaLnBrk="0">
              <a:lnSpc>
                <a:spcPct val="150000"/>
              </a:lnSpc>
              <a:spcBef>
                <a:spcPts val="17"/>
              </a:spcBef>
              <a:tabLst/>
            </a:pPr>
            <a:r>
              <a:rPr sz="1300" i="1" kern="0" spc="4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whispering</a:t>
            </a:r>
            <a:r>
              <a:rPr sz="1300" i="1" kern="0" spc="3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in moments of</a:t>
            </a:r>
            <a:r>
              <a:rPr sz="13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3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quiet</a:t>
            </a:r>
            <a:endParaRPr sz="1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1382"/>
              </a:spcBef>
              <a:tabLst/>
            </a:pPr>
            <a:r>
              <a:rPr sz="1200" kern="0" spc="-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安静时</a:t>
            </a:r>
            <a:r>
              <a:rPr sz="1200" kern="0" spc="-18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它在耳边轻声低语。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朗读：</a:t>
            </a:r>
            <a:r>
              <a:rPr sz="1200" kern="0" spc="-2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轻、</a:t>
            </a:r>
            <a:r>
              <a:rPr sz="1200" kern="0" spc="-2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慢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892845" y="2283797"/>
            <a:ext cx="4633595" cy="668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-4444" algn="l" rtl="0" eaLnBrk="0">
              <a:lnSpc>
                <a:spcPct val="116000"/>
              </a:lnSpc>
              <a:tabLst/>
            </a:pPr>
            <a:r>
              <a:rPr sz="1200" b="1" kern="0" spc="5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The</a:t>
            </a:r>
            <a:r>
              <a:rPr sz="12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200" b="1" kern="0" spc="5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question  </a:t>
            </a:r>
            <a:r>
              <a:rPr sz="1300" i="1" kern="0" spc="5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'What do I want to do with my life?</a:t>
            </a:r>
            <a:r>
              <a:rPr sz="1300" i="1" kern="0" spc="-18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5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1300" i="1" kern="0" spc="-13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kern="0" spc="5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become</a:t>
            </a:r>
            <a:r>
              <a:rPr sz="1200" b="1" kern="0" spc="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s</a:t>
            </a:r>
            <a:r>
              <a:rPr sz="1200" b="1" kern="0" spc="13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200" b="1" kern="0" spc="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</a:t>
            </a:r>
            <a:r>
              <a:rPr sz="1200" b="1" kern="0" spc="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200" b="1" kern="0" spc="5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constant</a:t>
            </a:r>
            <a:r>
              <a:rPr sz="1200" b="1" kern="0" spc="13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200" b="1" kern="0" spc="5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companion</a:t>
            </a:r>
            <a:r>
              <a:rPr sz="12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, whisperin</a:t>
            </a:r>
            <a:r>
              <a:rPr sz="12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g in moments of quiet and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screaming</a:t>
            </a:r>
            <a:r>
              <a:rPr sz="12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in</a:t>
            </a:r>
            <a:r>
              <a:rPr sz="12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moments</a:t>
            </a:r>
            <a:r>
              <a:rPr sz="12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of</a:t>
            </a:r>
            <a:r>
              <a:rPr sz="12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panic</a:t>
            </a:r>
            <a:r>
              <a:rPr sz="12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.</a:t>
            </a:r>
            <a:endParaRPr sz="1200" dirty="0">
              <a:latin typeface="Lucida Sans Unicode"/>
              <a:ea typeface="Lucida Sans Unicode"/>
              <a:cs typeface="Lucida Sans Unicode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655264" y="5691759"/>
            <a:ext cx="3550920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23" rIns="0" bIns="0"/>
          <a:lstStyle/>
          <a:p>
            <a:pPr marL="17145" indent="-4444" algn="l" rtl="0" eaLnBrk="0">
              <a:lnSpc>
                <a:spcPct val="116000"/>
              </a:lnSpc>
              <a:spcBef>
                <a:spcPts val="1"/>
              </a:spcBef>
              <a:tabLst/>
            </a:pPr>
            <a:r>
              <a:rPr sz="12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主干：</a:t>
            </a:r>
            <a:r>
              <a:rPr sz="1200" kern="0" spc="-18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The</a:t>
            </a:r>
            <a:r>
              <a:rPr sz="12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question</a:t>
            </a:r>
            <a:r>
              <a:rPr sz="12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becomes</a:t>
            </a:r>
            <a:r>
              <a:rPr sz="12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</a:t>
            </a:r>
            <a:r>
              <a:rPr sz="12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companion</a:t>
            </a:r>
            <a:r>
              <a:rPr sz="12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（主</a:t>
            </a: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系表）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7985610" y="5691759"/>
            <a:ext cx="3494404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23" rIns="0" bIns="0"/>
          <a:lstStyle/>
          <a:p>
            <a:pPr marL="19050" indent="-6985" algn="l" rtl="0" eaLnBrk="0">
              <a:lnSpc>
                <a:spcPct val="116000"/>
              </a:lnSpc>
              <a:spcBef>
                <a:spcPts val="1"/>
              </a:spcBef>
              <a:tabLst/>
            </a:pP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伴随状语：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whispering</a:t>
            </a:r>
            <a:r>
              <a:rPr sz="1200" kern="0" spc="-30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… /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screaming</a:t>
            </a:r>
            <a:r>
              <a:rPr sz="1200" kern="0" spc="-2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…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（现在分</a:t>
            </a:r>
            <a:r>
              <a:rPr sz="1200" kern="0" spc="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词短语）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8" name="picture 148">
            <a:hlinkClick r:id="rId5" action="ppaction://hlink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392733" y="6392955"/>
            <a:ext cx="1653526" cy="320488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4328867" y="5691759"/>
            <a:ext cx="290639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2"/>
              </a:lnSpc>
              <a:tabLst/>
            </a:pP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同位语：</a:t>
            </a:r>
            <a:r>
              <a:rPr sz="1200" kern="0" spc="-2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'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What</a:t>
            </a:r>
            <a:r>
              <a:rPr sz="1200" kern="0" spc="-29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…</a:t>
            </a:r>
            <a:r>
              <a:rPr sz="1200" kern="0" spc="-28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life</a:t>
            </a: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?' </a:t>
            </a: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释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the question</a:t>
            </a:r>
            <a:endParaRPr sz="1200" dirty="0">
              <a:latin typeface="Lucida Sans Unicode"/>
              <a:ea typeface="Lucida Sans Unicode"/>
              <a:cs typeface="Lucida Sans Unicode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657224" y="581025"/>
            <a:ext cx="1752600" cy="247650"/>
          </a:xfrm>
          <a:prstGeom prst="rect">
            <a:avLst/>
          </a:prstGeom>
          <a:solidFill>
            <a:srgbClr val="00184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6679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000" kern="0" spc="-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SENTENCE STRUCTURE · 2</a:t>
            </a:r>
            <a:endParaRPr sz="1000" dirty="0">
              <a:latin typeface="Lucida Sans Unicode"/>
              <a:ea typeface="Lucida Sans Unicode"/>
              <a:cs typeface="Lucida Sans Unicode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656270" y="3239607"/>
            <a:ext cx="821689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kern="0" spc="6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句子结构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655868" y="1725132"/>
            <a:ext cx="420369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kern="0" spc="4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原句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7225" y="5562600"/>
            <a:ext cx="3533775" cy="19050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01000" y="5562600"/>
            <a:ext cx="3533775" cy="19050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333875" y="5562600"/>
            <a:ext cx="3524250" cy="19050"/>
          </a:xfrm>
          <a:prstGeom prst="rect">
            <a:avLst/>
          </a:prstGeom>
        </p:spPr>
      </p:pic>
      <p:sp>
        <p:nvSpPr>
          <p:cNvPr id="164" name="textbox 164"/>
          <p:cNvSpPr/>
          <p:nvPr/>
        </p:nvSpPr>
        <p:spPr>
          <a:xfrm>
            <a:off x="4329831" y="5313550"/>
            <a:ext cx="229870" cy="16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1200" kern="0" spc="13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7998297" y="5313550"/>
            <a:ext cx="229234" cy="16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1200" kern="0" spc="13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661367" y="5313550"/>
            <a:ext cx="198120" cy="16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57225" y="2124075"/>
            <a:ext cx="19050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4" name="textbox 174"/>
          <p:cNvSpPr/>
          <p:nvPr/>
        </p:nvSpPr>
        <p:spPr>
          <a:xfrm>
            <a:off x="6235700" y="1528582"/>
            <a:ext cx="2816225" cy="403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ct val="87000"/>
              </a:lnSpc>
              <a:tabLst/>
            </a:pPr>
            <a:r>
              <a:rPr sz="1200" kern="0" spc="5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段落脉络 </a:t>
            </a:r>
            <a:r>
              <a:rPr sz="12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Flow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067435" algn="l" rtl="0" eaLnBrk="0">
              <a:lnSpc>
                <a:spcPct val="84000"/>
              </a:lnSpc>
              <a:spcBef>
                <a:spcPts val="1294"/>
              </a:spcBef>
              <a:tabLst/>
            </a:pPr>
            <a:r>
              <a:rPr sz="1200" kern="0" spc="-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① 总起（句①)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061085" algn="l" rtl="0" eaLnBrk="0">
              <a:lnSpc>
                <a:spcPts val="1920"/>
              </a:lnSpc>
              <a:tabLst/>
            </a:pPr>
            <a:r>
              <a:rPr sz="900" kern="0" spc="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最大挑战 </a:t>
            </a:r>
            <a:r>
              <a:rPr sz="900" kern="0" spc="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= </a:t>
            </a:r>
            <a:r>
              <a:rPr sz="900" kern="0" spc="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选择太多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13764" algn="l" rtl="0" eaLnBrk="0">
              <a:lnSpc>
                <a:spcPct val="87000"/>
              </a:lnSpc>
              <a:spcBef>
                <a:spcPts val="368"/>
              </a:spcBef>
              <a:tabLst/>
            </a:pPr>
            <a:r>
              <a:rPr sz="1200" kern="0" spc="-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③ 对比</a:t>
            </a:r>
            <a:r>
              <a:rPr sz="1200" kern="0" spc="-17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（句③④)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977900" algn="l" rtl="0" eaLnBrk="0">
              <a:lnSpc>
                <a:spcPts val="1132"/>
              </a:lnSpc>
              <a:spcBef>
                <a:spcPts val="941"/>
              </a:spcBef>
              <a:tabLst/>
            </a:pPr>
            <a:r>
              <a:rPr sz="900" kern="0" spc="10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分析瘫痪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Malgun Gothic"/>
                <a:ea typeface="Malgun Gothic"/>
                <a:cs typeface="Malgun Gothic"/>
              </a:rPr>
              <a:t>↔</a:t>
            </a:r>
            <a:r>
              <a:rPr sz="900" kern="0" spc="10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冲动后悔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87000"/>
              </a:lnSpc>
              <a:spcBef>
                <a:spcPts val="367"/>
              </a:spcBef>
              <a:tabLst/>
            </a:pPr>
            <a:r>
              <a:rPr sz="1200" kern="0" spc="8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在全文中的作用</a:t>
            </a:r>
            <a:r>
              <a:rPr sz="1200" kern="0" spc="19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Function</a:t>
            </a:r>
            <a:endParaRPr sz="1200" dirty="0">
              <a:latin typeface="Arial"/>
              <a:ea typeface="Arial"/>
              <a:cs typeface="Arial"/>
            </a:endParaRPr>
          </a:p>
          <a:p>
            <a:pPr marL="60325" algn="l" rtl="0" eaLnBrk="0">
              <a:lnSpc>
                <a:spcPct val="92000"/>
              </a:lnSpc>
              <a:spcBef>
                <a:spcPts val="901"/>
              </a:spcBef>
              <a:tabLst>
                <a:tab pos="217170" algn="l"/>
              </a:tabLst>
            </a:pPr>
            <a:r>
              <a:rPr sz="9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6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承上：延续前文</a:t>
            </a:r>
            <a:r>
              <a:rPr sz="900" kern="0" spc="6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900" kern="0" spc="6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新生适应挑战</a:t>
            </a:r>
            <a:r>
              <a:rPr sz="900" kern="0" spc="6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900" kern="0" spc="-16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900" kern="0" spc="6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，聚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焦到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endParaRPr sz="900" dirty="0">
              <a:latin typeface="Lucida Sans Unicode"/>
              <a:ea typeface="Lucida Sans Unicode"/>
              <a:cs typeface="Lucida Sans Unicode"/>
            </a:endParaRPr>
          </a:p>
          <a:p>
            <a:pPr marL="60325" algn="l" rtl="0" eaLnBrk="0">
              <a:lnSpc>
                <a:spcPct val="92000"/>
              </a:lnSpc>
              <a:spcBef>
                <a:spcPts val="506"/>
              </a:spcBef>
              <a:tabLst>
                <a:tab pos="216534" algn="l"/>
              </a:tabLst>
            </a:pPr>
            <a:r>
              <a:rPr sz="9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展开：用具体决策 </a:t>
            </a:r>
            <a:r>
              <a:rPr sz="9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+ </a:t>
            </a:r>
            <a:r>
              <a:rPr sz="9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两种反应</a:t>
            </a:r>
            <a:r>
              <a:rPr sz="900" kern="0" spc="-1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，把抽象焦虑写实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0325" algn="l" rtl="0" eaLnBrk="0">
              <a:lnSpc>
                <a:spcPct val="92000"/>
              </a:lnSpc>
              <a:spcBef>
                <a:spcPts val="3"/>
              </a:spcBef>
              <a:tabLst>
                <a:tab pos="217170" algn="l"/>
              </a:tabLst>
            </a:pPr>
            <a:r>
              <a:rPr sz="9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启下：抛出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人生方向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之问</a:t>
            </a:r>
            <a:r>
              <a:rPr sz="900" kern="0" spc="-1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900" kern="0" spc="-16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引向</a:t>
            </a:r>
            <a:r>
              <a:rPr sz="9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后文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6" name="picture 1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48400" y="5467350"/>
            <a:ext cx="47625" cy="47625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48400" y="5276850"/>
            <a:ext cx="47625" cy="47625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48400" y="5086350"/>
            <a:ext cx="47625" cy="47625"/>
          </a:xfrm>
          <a:prstGeom prst="rect">
            <a:avLst/>
          </a:prstGeom>
        </p:spPr>
      </p:pic>
      <p:sp>
        <p:nvSpPr>
          <p:cNvPr id="182" name="textbox 182"/>
          <p:cNvSpPr/>
          <p:nvPr/>
        </p:nvSpPr>
        <p:spPr>
          <a:xfrm>
            <a:off x="657439" y="955314"/>
            <a:ext cx="5013959" cy="758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87000"/>
              </a:lnSpc>
              <a:tabLst/>
            </a:pPr>
            <a:r>
              <a:rPr sz="2400" kern="0" spc="18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主旨与作用</a:t>
            </a:r>
            <a:r>
              <a:rPr sz="2400" kern="0" spc="33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18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24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Main</a:t>
            </a:r>
            <a:r>
              <a:rPr sz="2400" kern="0" spc="18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Idea</a:t>
            </a:r>
            <a:r>
              <a:rPr sz="2400" kern="0" spc="18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&amp; </a:t>
            </a:r>
            <a:r>
              <a:rPr sz="24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Function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200" kern="0" spc="13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主旨 </a:t>
            </a:r>
            <a:r>
              <a:rPr sz="12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Main</a:t>
            </a:r>
            <a:r>
              <a:rPr sz="1200" kern="0" spc="13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Idea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4314824" y="5695950"/>
            <a:ext cx="7220584" cy="438150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5729" algn="l" rtl="0" eaLnBrk="0">
              <a:lnSpc>
                <a:spcPct val="87000"/>
              </a:lnSpc>
              <a:tabLst/>
            </a:pPr>
            <a:r>
              <a:rPr sz="1200" kern="0" spc="8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对比 </a:t>
            </a:r>
            <a:r>
              <a:rPr sz="1200" kern="0" spc="8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Antithesis</a:t>
            </a:r>
            <a:r>
              <a:rPr sz="1200" kern="0" spc="1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</a:t>
            </a:r>
            <a:r>
              <a:rPr sz="1200" kern="0" spc="8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拟人 </a:t>
            </a:r>
            <a:r>
              <a:rPr sz="1200" kern="0" spc="8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Personificatio</a:t>
            </a:r>
            <a:r>
              <a:rPr sz="1200" kern="0" spc="7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655471" y="2374806"/>
            <a:ext cx="5149215" cy="575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2000"/>
              </a:lnSpc>
              <a:tabLst/>
            </a:pPr>
            <a:r>
              <a:rPr sz="900" kern="0" spc="6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面对扑面而来的选择</a:t>
            </a:r>
            <a:r>
              <a:rPr sz="900" kern="0" spc="-1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6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，迷茫的大一新生容易走向两个极端</a:t>
            </a:r>
            <a:r>
              <a:rPr sz="900" kern="0" spc="6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—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—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要么无止境犹豫</a:t>
            </a:r>
            <a:r>
              <a:rPr sz="900" kern="0" spc="-1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，要么鲁莽冲动；</a:t>
            </a:r>
            <a:r>
              <a:rPr sz="9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而</a:t>
            </a:r>
            <a:r>
              <a:rPr sz="900" kern="0" spc="-9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9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我到底想做什么</a:t>
            </a:r>
            <a:r>
              <a:rPr sz="900" kern="0" spc="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900" kern="0" spc="-16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9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，始终挥之不去。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200" kern="0" spc="-2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写作手法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9380472" y="2500132"/>
            <a:ext cx="1685925" cy="1613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tabLst/>
            </a:pPr>
            <a:r>
              <a:rPr sz="1200" kern="0" spc="-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② 列举（句②)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ts val="1168"/>
              </a:lnSpc>
              <a:spcBef>
                <a:spcPts val="911"/>
              </a:spcBef>
              <a:tabLst/>
            </a:pPr>
            <a:r>
              <a:rPr sz="9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专业 </a:t>
            </a:r>
            <a:r>
              <a:rPr sz="9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/ </a:t>
            </a:r>
            <a:r>
              <a:rPr sz="9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辅修 </a:t>
            </a:r>
            <a:r>
              <a:rPr sz="9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/ </a:t>
            </a:r>
            <a:r>
              <a:rPr sz="9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社团 </a:t>
            </a:r>
            <a:r>
              <a:rPr sz="9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/ </a:t>
            </a:r>
            <a:r>
              <a:rPr sz="9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实习</a:t>
            </a:r>
            <a:r>
              <a:rPr sz="9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/ </a:t>
            </a:r>
            <a:r>
              <a:rPr sz="9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职业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spcBef>
                <a:spcPts val="364"/>
              </a:spcBef>
              <a:tabLst/>
            </a:pPr>
            <a:r>
              <a:rPr sz="1200" kern="0" spc="-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④ 收束（句⑤)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spcBef>
                <a:spcPts val="2"/>
              </a:spcBef>
              <a:tabLst/>
            </a:pPr>
            <a:r>
              <a:rPr sz="900" kern="0" spc="6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挥之不去的存在之问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657224" y="5695950"/>
            <a:ext cx="3571875" cy="438150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3335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200" kern="0" spc="2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排比 </a:t>
            </a:r>
            <a:r>
              <a:rPr sz="1200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Parallelism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846802" y="1903150"/>
            <a:ext cx="5120640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8889" algn="l" rtl="0" eaLnBrk="0">
              <a:lnSpc>
                <a:spcPct val="110000"/>
              </a:lnSpc>
              <a:tabLst/>
            </a:pPr>
            <a:r>
              <a:rPr sz="900" i="1" kern="0" spc="6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 an overwhelmed freshman,</a:t>
            </a:r>
            <a:r>
              <a:rPr sz="900" i="1" kern="0" spc="11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 kern="0" spc="6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endless </a:t>
            </a:r>
            <a:r>
              <a:rPr sz="900" i="1" kern="0" spc="5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choices breed two opposite failures — hesitation</a:t>
            </a:r>
            <a:r>
              <a:rPr sz="900" i="1" kern="0" spc="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 kern="0" spc="5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haste — and a question that</a:t>
            </a:r>
            <a:r>
              <a:rPr sz="900" i="1" kern="0" spc="8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 kern="0" spc="5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never</a:t>
            </a:r>
            <a:r>
              <a:rPr sz="900" i="1" kern="0" spc="7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 kern="0" spc="5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</a:t>
            </a:r>
            <a:r>
              <a:rPr sz="900" i="1" kern="0" spc="4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ves.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667750" y="1809750"/>
            <a:ext cx="457200" cy="2857500"/>
          </a:xfrm>
          <a:prstGeom prst="rect">
            <a:avLst/>
          </a:prstGeom>
        </p:spPr>
      </p:pic>
      <p:pic>
        <p:nvPicPr>
          <p:cNvPr id="196" name="picture 196">
            <a:hlinkClick r:id="rId7" action="ppaction://hlinkfil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392733" y="6392955"/>
            <a:ext cx="1653526" cy="320488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657224" y="723900"/>
            <a:ext cx="1276985" cy="190500"/>
          </a:xfrm>
          <a:prstGeom prst="rect">
            <a:avLst/>
          </a:prstGeom>
          <a:solidFill>
            <a:srgbClr val="00184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6994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700" kern="0" spc="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MAIN IDEA &amp; FUNCTION</a:t>
            </a:r>
            <a:endParaRPr sz="700" dirty="0">
              <a:latin typeface="Lucida Sans Unicode"/>
              <a:ea typeface="Lucida Sans Unicode"/>
              <a:cs typeface="Lucida Sans Unicode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57225" y="1809750"/>
            <a:ext cx="19050" cy="466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 2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" name="textbox 204"/>
          <p:cNvSpPr/>
          <p:nvPr/>
        </p:nvSpPr>
        <p:spPr>
          <a:xfrm>
            <a:off x="657224" y="3829050"/>
            <a:ext cx="10877550" cy="1571625"/>
          </a:xfrm>
          <a:prstGeom prst="rect">
            <a:avLst/>
          </a:prstGeom>
          <a:solidFill>
            <a:srgbClr val="0028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9100" algn="l" rtl="0" eaLnBrk="0">
              <a:lnSpc>
                <a:spcPct val="94000"/>
              </a:lnSpc>
              <a:spcBef>
                <a:spcPts val="2"/>
              </a:spcBef>
              <a:tabLst>
                <a:tab pos="653415" algn="l"/>
              </a:tabLst>
            </a:pP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语言支架 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Language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Support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48969" algn="l" rtl="0" eaLnBrk="0">
              <a:lnSpc>
                <a:spcPct val="94000"/>
              </a:lnSpc>
              <a:spcBef>
                <a:spcPts val="426"/>
              </a:spcBef>
              <a:tabLst/>
            </a:pP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发言时至少用上这 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3 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词：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daunting</a:t>
            </a:r>
            <a:r>
              <a:rPr sz="1400" b="1" kern="0" spc="18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·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paralysis</a:t>
            </a:r>
            <a:r>
              <a:rPr sz="1400" b="1" kern="0" spc="14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of</a:t>
            </a:r>
            <a:r>
              <a:rPr sz="1400" b="1" kern="0" spc="13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analysis</a:t>
            </a:r>
            <a:r>
              <a:rPr sz="1400" b="1" kern="0" spc="18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·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impulsively</a:t>
            </a:r>
            <a:endParaRPr sz="1400" dirty="0">
              <a:latin typeface="Corbel"/>
              <a:ea typeface="Corbel"/>
              <a:cs typeface="Corbel"/>
            </a:endParaRPr>
          </a:p>
          <a:p>
            <a:pPr marL="668655" algn="l" rtl="0" eaLnBrk="0">
              <a:lnSpc>
                <a:spcPct val="203000"/>
              </a:lnSpc>
              <a:spcBef>
                <a:spcPts val="6"/>
              </a:spcBef>
              <a:tabLst>
                <a:tab pos="6024879" algn="l"/>
              </a:tabLst>
            </a:pPr>
            <a:r>
              <a:rPr sz="1400" i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参考句式：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400" i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tend</a:t>
            </a:r>
            <a:r>
              <a:rPr sz="1400" i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400" i="1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u="sng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i="1" kern="0" spc="-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400" i="1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</a:t>
            </a:r>
            <a:r>
              <a:rPr sz="1400" i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400" i="1" kern="0" spc="-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400" i="1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1400" i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400" i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i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(n)</a:t>
            </a:r>
            <a:r>
              <a:rPr sz="1400" i="1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u="sng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400" i="1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400" i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example</a:t>
            </a:r>
            <a:r>
              <a:rPr sz="1400" i="1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400" i="1" u="sng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0281" y="4071677"/>
            <a:ext cx="196378" cy="196378"/>
          </a:xfrm>
          <a:prstGeom prst="rect">
            <a:avLst/>
          </a:prstGeom>
        </p:spPr>
      </p:pic>
      <p:sp>
        <p:nvSpPr>
          <p:cNvPr id="208" name="rect 208"/>
          <p:cNvSpPr/>
          <p:nvPr/>
        </p:nvSpPr>
        <p:spPr>
          <a:xfrm>
            <a:off x="657224" y="2609850"/>
            <a:ext cx="10877550" cy="1019175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" name="textbox 210"/>
          <p:cNvSpPr/>
          <p:nvPr/>
        </p:nvSpPr>
        <p:spPr>
          <a:xfrm>
            <a:off x="648841" y="1059106"/>
            <a:ext cx="7910194" cy="13252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1000"/>
              </a:lnSpc>
              <a:tabLst/>
            </a:pPr>
            <a:r>
              <a:rPr sz="3500" kern="0" spc="44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课堂讨论 </a:t>
            </a:r>
            <a:r>
              <a:rPr sz="3500" kern="0" spc="44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35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3500" kern="0" spc="44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Trap</a:t>
            </a:r>
            <a:r>
              <a:rPr sz="3500" kern="0" spc="4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Catches</a:t>
            </a:r>
            <a:r>
              <a:rPr sz="3500" kern="0" spc="-14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3500" kern="0" spc="44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3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29"/>
              </a:spcBef>
              <a:tabLst/>
            </a:pPr>
            <a:r>
              <a:rPr sz="14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Which trap</a:t>
            </a:r>
            <a:r>
              <a:rPr sz="1400" b="1" kern="0" spc="19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catches you</a:t>
            </a:r>
            <a:r>
              <a:rPr sz="1400" b="1" kern="0" spc="18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more</a:t>
            </a:r>
            <a:r>
              <a:rPr sz="1400" b="1" kern="0" spc="13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—</a:t>
            </a:r>
            <a:r>
              <a:rPr sz="1400" b="1" kern="0" spc="18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paralysis</a:t>
            </a:r>
            <a:r>
              <a:rPr sz="14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of analysis</a:t>
            </a:r>
            <a:r>
              <a:rPr sz="14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or</a:t>
            </a:r>
            <a:r>
              <a:rPr sz="1400" b="1" kern="0" spc="18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impulsive</a:t>
            </a:r>
            <a:r>
              <a:rPr sz="1400" b="1" kern="0" spc="14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10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decisions?</a:t>
            </a:r>
            <a:endParaRPr sz="1400" dirty="0">
              <a:latin typeface="Corbel"/>
              <a:ea typeface="Corbel"/>
              <a:cs typeface="Corbe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14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你更容易掉进哪个陷阱</a:t>
            </a:r>
            <a:r>
              <a:rPr sz="14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——"</a:t>
            </a:r>
            <a:r>
              <a:rPr sz="14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分析瘫痪</a:t>
            </a:r>
            <a:r>
              <a:rPr sz="14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1400" kern="0" spc="-26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，还是</a:t>
            </a:r>
            <a:r>
              <a:rPr sz="14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14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冲动决定</a:t>
            </a:r>
            <a:r>
              <a:rPr sz="14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"</a:t>
            </a:r>
            <a:r>
              <a:rPr sz="1400" kern="0" spc="1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657279" y="5617626"/>
            <a:ext cx="8227694" cy="511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29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16000"/>
              </a:lnSpc>
              <a:tabLst/>
            </a:pPr>
            <a:r>
              <a:rPr sz="1400" b="1" kern="0" spc="-2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Q2</a:t>
            </a:r>
            <a:r>
              <a:rPr sz="1400" kern="0" spc="-2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（备选） </a:t>
            </a:r>
            <a:r>
              <a:rPr sz="1400" kern="0" spc="-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If</a:t>
            </a:r>
            <a:r>
              <a:rPr sz="1400" kern="0" spc="-1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-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you could send one message back to your first-month self, what would</a:t>
            </a:r>
            <a:r>
              <a:rPr sz="1400" kern="0" spc="-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you rethink?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如果能给开学第一个月的自己带句话</a:t>
            </a:r>
            <a:r>
              <a:rPr sz="1400" kern="0" spc="-16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，你会重新想清楚什么？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828327" y="2790195"/>
            <a:ext cx="2172970" cy="637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7000"/>
              </a:lnSpc>
              <a:tabLst/>
            </a:pPr>
            <a:r>
              <a:rPr sz="1700" kern="0" spc="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← 分析瘫痪型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kern="0" spc="-4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Analysis p</a:t>
            </a:r>
            <a:r>
              <a:rPr sz="1400" kern="0" spc="-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aralysis · </a:t>
            </a:r>
            <a:r>
              <a:rPr sz="1400" kern="0" spc="-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更犹豫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8081355" y="2790195"/>
            <a:ext cx="1519555" cy="637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tabLst/>
            </a:pPr>
            <a:r>
              <a:rPr sz="1700" kern="0" spc="1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冲动型→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1400" kern="0" spc="-5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Impulsive · </a:t>
            </a:r>
            <a:r>
              <a:rPr sz="1400" kern="0" spc="-5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更冲动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8" name="picture 218">
            <a:hlinkClick r:id="rId4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392733" y="6392955"/>
            <a:ext cx="1653526" cy="320488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4458656" y="2790195"/>
            <a:ext cx="769619" cy="637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4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看情况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5000"/>
              </a:lnSpc>
              <a:tabLst/>
            </a:pPr>
            <a:r>
              <a:rPr sz="1400" kern="0" spc="-3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Depends</a:t>
            </a:r>
            <a:endParaRPr sz="1400" dirty="0">
              <a:latin typeface="Lucida Sans Unicode"/>
              <a:ea typeface="Lucida Sans Unicode"/>
              <a:cs typeface="Lucida Sans Unicode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657224" y="704850"/>
            <a:ext cx="1076960" cy="266700"/>
          </a:xfrm>
          <a:prstGeom prst="rect">
            <a:avLst/>
          </a:prstGeom>
          <a:solidFill>
            <a:srgbClr val="00184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5729" algn="l" rtl="0" eaLnBrk="0">
              <a:lnSpc>
                <a:spcPct val="86000"/>
              </a:lnSpc>
              <a:spcBef>
                <a:spcPts val="5"/>
              </a:spcBef>
              <a:tabLst/>
            </a:pPr>
            <a:r>
              <a:rPr sz="1100" kern="0" spc="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DISCUSSIO</a:t>
            </a:r>
            <a:r>
              <a:rPr sz="1100" kern="0" spc="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N</a:t>
            </a:r>
            <a:endParaRPr sz="1100" dirty="0">
              <a:latin typeface="Lucida Sans Unicode"/>
              <a:ea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 2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6" name="textbox 226"/>
          <p:cNvSpPr/>
          <p:nvPr/>
        </p:nvSpPr>
        <p:spPr>
          <a:xfrm>
            <a:off x="657108" y="1005540"/>
            <a:ext cx="10513694" cy="2676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ct val="81000"/>
              </a:lnSpc>
              <a:tabLst/>
            </a:pPr>
            <a:r>
              <a:rPr sz="5100" kern="0" spc="46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Naming</a:t>
            </a:r>
            <a:r>
              <a:rPr sz="5100" kern="0" spc="-15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100" kern="0" spc="46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5100" kern="0" spc="-21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100" kern="0" spc="46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trap</a:t>
            </a:r>
            <a:r>
              <a:rPr sz="5100" kern="0" spc="-11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100" kern="0" spc="46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5100" kern="0" spc="-21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100" kern="0" spc="46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5100" kern="0" spc="-13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100" kern="0" spc="46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first</a:t>
            </a:r>
            <a:r>
              <a:rPr sz="5100" kern="0" spc="-8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100" kern="0" spc="46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</a:t>
            </a:r>
            <a:endParaRPr sz="5100" dirty="0">
              <a:latin typeface="Arial"/>
              <a:ea typeface="Arial"/>
              <a:cs typeface="Arial"/>
            </a:endParaRPr>
          </a:p>
          <a:p>
            <a:pPr marL="35559" algn="l" rtl="0" eaLnBrk="0">
              <a:lnSpc>
                <a:spcPct val="87000"/>
              </a:lnSpc>
              <a:spcBef>
                <a:spcPts val="60"/>
              </a:spcBef>
              <a:tabLst/>
            </a:pPr>
            <a:r>
              <a:rPr sz="5100" kern="0" spc="49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</a:t>
            </a:r>
            <a:r>
              <a:rPr sz="5100" kern="0" spc="1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100" kern="0" spc="49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5100" kern="0" spc="-11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100" kern="0" spc="49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it.</a:t>
            </a:r>
            <a:endParaRPr sz="5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844" algn="l" rtl="0" eaLnBrk="0">
              <a:lnSpc>
                <a:spcPct val="87000"/>
              </a:lnSpc>
              <a:spcBef>
                <a:spcPts val="456"/>
              </a:spcBef>
              <a:tabLst/>
            </a:pPr>
            <a:r>
              <a:rPr sz="1500" i="1" kern="0" spc="-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看清陷阱，</a:t>
            </a:r>
            <a:r>
              <a:rPr sz="1500" kern="0" spc="-27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i="1" kern="0" spc="-30" dirty="0">
                <a:solidFill>
                  <a:srgbClr val="E0D6D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就是走出它的第一步。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1800" kern="0" spc="120" dirty="0">
                <a:solidFill>
                  <a:srgbClr val="97B8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今日词汇回顾 </a:t>
            </a:r>
            <a:r>
              <a:rPr sz="1800" kern="0" spc="12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18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Today</a:t>
            </a:r>
            <a:r>
              <a:rPr sz="1800" kern="0" spc="12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ıs 5</a:t>
            </a:r>
            <a:r>
              <a:rPr sz="1800" kern="0" spc="11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97B8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Words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657224" y="4838700"/>
            <a:ext cx="5343525" cy="666750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3359" algn="l" rtl="0" eaLnBrk="0">
              <a:lnSpc>
                <a:spcPct val="84000"/>
              </a:lnSpc>
              <a:tabLst/>
            </a:pPr>
            <a:r>
              <a:rPr sz="1800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paralysis of</a:t>
            </a:r>
            <a:r>
              <a:rPr sz="1800" kern="0" spc="6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2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6191250" y="4838700"/>
            <a:ext cx="5343525" cy="666750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8279" algn="l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1800" kern="0" spc="16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press down</a:t>
            </a:r>
            <a:r>
              <a:rPr sz="1800" kern="0" spc="5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6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4343399" y="3971925"/>
            <a:ext cx="3505834" cy="676275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1929" algn="l" rtl="0" eaLnBrk="0">
              <a:lnSpc>
                <a:spcPct val="74000"/>
              </a:lnSpc>
              <a:spcBef>
                <a:spcPts val="6"/>
              </a:spcBef>
              <a:tabLst/>
            </a:pPr>
            <a:r>
              <a:rPr sz="1800" kern="0" spc="13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sheer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657224" y="3971925"/>
            <a:ext cx="3505200" cy="676275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4470" algn="l" rtl="0" eaLnBrk="0">
              <a:lnSpc>
                <a:spcPct val="84000"/>
              </a:lnSpc>
              <a:tabLst/>
            </a:pPr>
            <a:r>
              <a:rPr sz="1800" kern="0" spc="19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daunting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8029575" y="3971925"/>
            <a:ext cx="3505200" cy="676275"/>
          </a:xfrm>
          <a:prstGeom prst="rect">
            <a:avLst/>
          </a:prstGeom>
          <a:solidFill>
            <a:srgbClr val="2626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0660" algn="l" rtl="0" eaLnBrk="0">
              <a:lnSpc>
                <a:spcPct val="84000"/>
              </a:lnSpc>
              <a:tabLst/>
            </a:pPr>
            <a:r>
              <a:rPr sz="1800" kern="0" spc="170" dirty="0">
                <a:solidFill>
                  <a:srgbClr val="E0D6DE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impulsively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652431" y="5787089"/>
            <a:ext cx="3020060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400" b="1" kern="0" spc="13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Thank You</a:t>
            </a:r>
            <a:r>
              <a:rPr sz="1400" b="1" kern="0" spc="23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13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·</a:t>
            </a:r>
            <a:r>
              <a:rPr sz="1400" b="1" kern="0" spc="18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1400" b="1" kern="0" spc="130" dirty="0">
                <a:solidFill>
                  <a:srgbClr val="E0D6DE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Questions Welcome</a:t>
            </a:r>
            <a:endParaRPr sz="1400" dirty="0">
              <a:latin typeface="Corbel"/>
              <a:ea typeface="Corbel"/>
              <a:cs typeface="Corbe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9000"/>
              </a:lnSpc>
              <a:spcBef>
                <a:spcPts val="2"/>
              </a:spcBef>
              <a:tabLst/>
            </a:pPr>
            <a:r>
              <a:rPr sz="1400" kern="0" spc="-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Group 3 ·</a:t>
            </a:r>
            <a:r>
              <a:rPr sz="1400" kern="0" spc="8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 </a:t>
            </a:r>
            <a:r>
              <a:rPr sz="1400" kern="0" spc="-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Paragr</a:t>
            </a:r>
            <a:r>
              <a:rPr sz="1400" kern="0" spc="-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aph 3</a:t>
            </a:r>
            <a:endParaRPr sz="1400" dirty="0">
              <a:latin typeface="Lucida Sans Unicode"/>
              <a:ea typeface="Lucida Sans Unicode"/>
              <a:cs typeface="Lucida Sans Unicode"/>
            </a:endParaRPr>
          </a:p>
        </p:txBody>
      </p:sp>
      <p:pic>
        <p:nvPicPr>
          <p:cNvPr id="240" name="picture 240">
            <a:hlinkClick r:id="rId3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392733" y="6392955"/>
            <a:ext cx="1653526" cy="320488"/>
          </a:xfrm>
          <a:prstGeom prst="rect">
            <a:avLst/>
          </a:prstGeom>
        </p:spPr>
      </p:pic>
      <p:sp>
        <p:nvSpPr>
          <p:cNvPr id="242" name="textbox 242"/>
          <p:cNvSpPr/>
          <p:nvPr/>
        </p:nvSpPr>
        <p:spPr>
          <a:xfrm>
            <a:off x="657224" y="533400"/>
            <a:ext cx="1771650" cy="285750"/>
          </a:xfrm>
          <a:prstGeom prst="rect">
            <a:avLst/>
          </a:prstGeom>
          <a:solidFill>
            <a:srgbClr val="00184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19379" algn="l" rtl="0" eaLnBrk="0">
              <a:lnSpc>
                <a:spcPct val="75000"/>
              </a:lnSpc>
              <a:spcBef>
                <a:spcPts val="2"/>
              </a:spcBef>
              <a:tabLst/>
            </a:pPr>
            <a:r>
              <a:rPr sz="1100" kern="0" spc="-1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WRAP-UP · TAKEAW</a:t>
            </a:r>
            <a:r>
              <a:rPr sz="1100" kern="0" spc="-20" dirty="0">
                <a:solidFill>
                  <a:srgbClr val="E0D6DE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AY</a:t>
            </a:r>
            <a:endParaRPr sz="1100" dirty="0">
              <a:latin typeface="Lucida Sans Unicode"/>
              <a:ea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pdf-lib (https://github.com/Hopding/pdf-lib)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2026-09-06T04:42:02Z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2026-09-08T20:47:12</vt:filetime>
  </property>
</Properties>
</file>